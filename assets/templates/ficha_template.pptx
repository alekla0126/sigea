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6" r:id="rId9"/>
  </p:sldIdLst>
  <p:sldSz cx="9144000" cy="6858000" type="screen4x3"/>
  <p:notesSz cx="6873875" cy="9128125"/>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18" autoAdjust="0"/>
    <p:restoredTop sz="94676"/>
  </p:normalViewPr>
  <p:slideViewPr>
    <p:cSldViewPr snapToGrid="0">
      <p:cViewPr varScale="1">
        <p:scale>
          <a:sx n="97" d="100"/>
          <a:sy n="97" d="100"/>
        </p:scale>
        <p:origin x="1888" y="20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1341438" y="750888"/>
            <a:ext cx="4937125" cy="3702050"/>
          </a:xfrm>
          <a:prstGeom prst="rect">
            <a:avLst/>
          </a:prstGeom>
        </p:spPr>
        <p:txBody>
          <a:bodyPr lIns="0" tIns="0" rIns="0" bIns="0" anchor="ctr">
            <a:noAutofit/>
          </a:bodyPr>
          <a:lstStyle/>
          <a:p>
            <a:r>
              <a:rPr lang="es-MX" sz="1800" b="0" strike="noStrike" spc="-1">
                <a:solidFill>
                  <a:srgbClr val="000000"/>
                </a:solidFill>
                <a:latin typeface="Calibri"/>
              </a:rPr>
              <a:t>Click to move the slide</a:t>
            </a:r>
          </a:p>
        </p:txBody>
      </p:sp>
      <p:sp>
        <p:nvSpPr>
          <p:cNvPr id="42" name="PlaceHolder 2"/>
          <p:cNvSpPr>
            <a:spLocks noGrp="1"/>
          </p:cNvSpPr>
          <p:nvPr>
            <p:ph type="body"/>
          </p:nvPr>
        </p:nvSpPr>
        <p:spPr>
          <a:xfrm>
            <a:off x="762104" y="4691081"/>
            <a:ext cx="6096476" cy="4443996"/>
          </a:xfrm>
          <a:prstGeom prst="rect">
            <a:avLst/>
          </a:prstGeom>
        </p:spPr>
        <p:txBody>
          <a:bodyPr lIns="0" tIns="0" rIns="0" bIns="0">
            <a:noAutofit/>
          </a:bodyPr>
          <a:lstStyle/>
          <a:p>
            <a:r>
              <a:rPr lang="es-ES" sz="2000" b="0" strike="noStrike" spc="-1">
                <a:latin typeface="Arial"/>
              </a:rPr>
              <a:t>Click to edit the notes format</a:t>
            </a:r>
          </a:p>
        </p:txBody>
      </p:sp>
      <p:sp>
        <p:nvSpPr>
          <p:cNvPr id="43" name="PlaceHolder 3"/>
          <p:cNvSpPr>
            <a:spLocks noGrp="1"/>
          </p:cNvSpPr>
          <p:nvPr>
            <p:ph type="hdr"/>
          </p:nvPr>
        </p:nvSpPr>
        <p:spPr>
          <a:xfrm>
            <a:off x="1" y="0"/>
            <a:ext cx="3307155" cy="493463"/>
          </a:xfrm>
          <a:prstGeom prst="rect">
            <a:avLst/>
          </a:prstGeom>
        </p:spPr>
        <p:txBody>
          <a:bodyPr lIns="0" tIns="0" rIns="0" bIns="0">
            <a:noAutofit/>
          </a:bodyPr>
          <a:lstStyle/>
          <a:p>
            <a:r>
              <a:rPr lang="es-ES" sz="1400" b="0" strike="noStrike" spc="-1">
                <a:latin typeface="Times New Roman"/>
              </a:rPr>
              <a:t>&lt;header&gt;</a:t>
            </a:r>
          </a:p>
        </p:txBody>
      </p:sp>
      <p:sp>
        <p:nvSpPr>
          <p:cNvPr id="44" name="PlaceHolder 4"/>
          <p:cNvSpPr>
            <a:spLocks noGrp="1"/>
          </p:cNvSpPr>
          <p:nvPr>
            <p:ph type="dt"/>
          </p:nvPr>
        </p:nvSpPr>
        <p:spPr>
          <a:xfrm>
            <a:off x="4313527" y="0"/>
            <a:ext cx="3307155" cy="493463"/>
          </a:xfrm>
          <a:prstGeom prst="rect">
            <a:avLst/>
          </a:prstGeom>
        </p:spPr>
        <p:txBody>
          <a:bodyPr lIns="0" tIns="0" rIns="0" bIns="0">
            <a:noAutofit/>
          </a:bodyPr>
          <a:lstStyle/>
          <a:p>
            <a:pPr algn="r"/>
            <a:r>
              <a:rPr lang="es-ES" sz="1400" b="0" strike="noStrike" spc="-1">
                <a:latin typeface="Times New Roman"/>
              </a:rPr>
              <a:t>&lt;date/time&gt;</a:t>
            </a:r>
          </a:p>
        </p:txBody>
      </p:sp>
      <p:sp>
        <p:nvSpPr>
          <p:cNvPr id="45" name="PlaceHolder 5"/>
          <p:cNvSpPr>
            <a:spLocks noGrp="1"/>
          </p:cNvSpPr>
          <p:nvPr>
            <p:ph type="ftr"/>
          </p:nvPr>
        </p:nvSpPr>
        <p:spPr>
          <a:xfrm>
            <a:off x="1" y="9382516"/>
            <a:ext cx="3307155" cy="493463"/>
          </a:xfrm>
          <a:prstGeom prst="rect">
            <a:avLst/>
          </a:prstGeom>
        </p:spPr>
        <p:txBody>
          <a:bodyPr lIns="0" tIns="0" rIns="0" bIns="0" anchor="b">
            <a:noAutofit/>
          </a:bodyPr>
          <a:lstStyle/>
          <a:p>
            <a:r>
              <a:rPr lang="es-ES" sz="1400" b="0" strike="noStrike" spc="-1">
                <a:latin typeface="Times New Roman"/>
              </a:rPr>
              <a:t>&lt;footer&gt;</a:t>
            </a:r>
          </a:p>
        </p:txBody>
      </p:sp>
      <p:sp>
        <p:nvSpPr>
          <p:cNvPr id="46" name="PlaceHolder 6"/>
          <p:cNvSpPr>
            <a:spLocks noGrp="1"/>
          </p:cNvSpPr>
          <p:nvPr>
            <p:ph type="sldNum"/>
          </p:nvPr>
        </p:nvSpPr>
        <p:spPr>
          <a:xfrm>
            <a:off x="4313527" y="9382516"/>
            <a:ext cx="3307155" cy="493463"/>
          </a:xfrm>
          <a:prstGeom prst="rect">
            <a:avLst/>
          </a:prstGeom>
        </p:spPr>
        <p:txBody>
          <a:bodyPr lIns="0" tIns="0" rIns="0" bIns="0" anchor="b">
            <a:noAutofit/>
          </a:bodyPr>
          <a:lstStyle/>
          <a:p>
            <a:pPr algn="r"/>
            <a:fld id="{49A1786F-84EA-47AB-875E-E08AC6B50B53}" type="slidenum">
              <a:rPr lang="es-ES" sz="1400" b="0" strike="noStrike" spc="-1">
                <a:latin typeface="Times New Roman"/>
              </a:rPr>
              <a:t>‹#›</a:t>
            </a:fld>
            <a:endParaRPr lang="es-ES" sz="1400" b="0" strike="noStrike" spc="-1">
              <a:latin typeface="Times New Roman"/>
            </a:endParaRPr>
          </a:p>
        </p:txBody>
      </p:sp>
    </p:spTree>
    <p:extLst>
      <p:ext uri="{BB962C8B-B14F-4D97-AF65-F5344CB8AC3E}">
        <p14:creationId xmlns:p14="http://schemas.microsoft.com/office/powerpoint/2010/main" val="1084289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1384300" y="1141413"/>
            <a:ext cx="4105275" cy="3079750"/>
          </a:xfrm>
          <a:prstGeom prst="rect">
            <a:avLst/>
          </a:prstGeom>
        </p:spPr>
      </p:sp>
      <p:sp>
        <p:nvSpPr>
          <p:cNvPr id="120" name="PlaceHolder 2"/>
          <p:cNvSpPr>
            <a:spLocks noGrp="1"/>
          </p:cNvSpPr>
          <p:nvPr>
            <p:ph type="body"/>
          </p:nvPr>
        </p:nvSpPr>
        <p:spPr>
          <a:xfrm>
            <a:off x="687976" y="4392741"/>
            <a:ext cx="5497453" cy="3594221"/>
          </a:xfrm>
          <a:prstGeom prst="rect">
            <a:avLst/>
          </a:prstGeom>
        </p:spPr>
        <p:txBody>
          <a:bodyPr>
            <a:noAutofit/>
          </a:bodyPr>
          <a:lstStyle/>
          <a:p>
            <a:endParaRPr lang="es-ES" sz="2000" b="0" strike="noStrike" spc="-1" dirty="0">
              <a:latin typeface="Arial"/>
            </a:endParaRPr>
          </a:p>
        </p:txBody>
      </p:sp>
      <p:sp>
        <p:nvSpPr>
          <p:cNvPr id="121" name="TextShape 3"/>
          <p:cNvSpPr txBox="1"/>
          <p:nvPr/>
        </p:nvSpPr>
        <p:spPr>
          <a:xfrm>
            <a:off x="3893117" y="8669893"/>
            <a:ext cx="2978876" cy="457761"/>
          </a:xfrm>
          <a:prstGeom prst="rect">
            <a:avLst/>
          </a:prstGeom>
          <a:noFill/>
          <a:ln w="0">
            <a:noFill/>
          </a:ln>
        </p:spPr>
        <p:txBody>
          <a:bodyPr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0B7C0-798F-4DAF-B763-BBCADAD812A8}" type="slidenum">
              <a:rPr kumimoji="0" lang="es-MX" sz="1200" b="0" i="0" u="none" strike="noStrike" kern="1200" cap="none" spc="-1"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1" normalizeH="0" baseline="0" noProof="0">
              <a:ln>
                <a:noFill/>
              </a:ln>
              <a:solidFill>
                <a:prstClr val="black"/>
              </a:solidFill>
              <a:effectLst/>
              <a:uLnTx/>
              <a:uFillTx/>
              <a:latin typeface="Times New Roman"/>
            </a:endParaRPr>
          </a:p>
        </p:txBody>
      </p:sp>
    </p:spTree>
    <p:extLst>
      <p:ext uri="{BB962C8B-B14F-4D97-AF65-F5344CB8AC3E}">
        <p14:creationId xmlns:p14="http://schemas.microsoft.com/office/powerpoint/2010/main" val="858221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noRot="1" noChangeAspect="1"/>
          </p:cNvSpPr>
          <p:nvPr>
            <p:ph type="sldImg"/>
          </p:nvPr>
        </p:nvSpPr>
        <p:spPr>
          <a:xfrm>
            <a:off x="1671638" y="1085850"/>
            <a:ext cx="3905250" cy="2928938"/>
          </a:xfrm>
          <a:prstGeom prst="rect">
            <a:avLst/>
          </a:prstGeom>
        </p:spPr>
      </p:sp>
      <p:sp>
        <p:nvSpPr>
          <p:cNvPr id="129" name="PlaceHolder 2"/>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2</a:t>
            </a:fld>
            <a:endParaRPr lang="es-ES" sz="1200" spc="-1" dirty="0">
              <a:solidFill>
                <a:prstClr val="black"/>
              </a:solidFill>
              <a:latin typeface="Times New Roman"/>
            </a:endParaRPr>
          </a:p>
        </p:txBody>
      </p:sp>
    </p:spTree>
    <p:extLst>
      <p:ext uri="{BB962C8B-B14F-4D97-AF65-F5344CB8AC3E}">
        <p14:creationId xmlns:p14="http://schemas.microsoft.com/office/powerpoint/2010/main" val="1136980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3098-60A1-90F5-5B53-658C316A59A6}"/>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A2670DEA-E1A7-884F-CBCB-A642D66D86C1}"/>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B2622963-4AC3-AF5C-83A9-C9C6350DFDB4}"/>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C3B97144-C055-50B7-509C-2196B849B0EB}"/>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3</a:t>
            </a:fld>
            <a:endParaRPr lang="es-ES" sz="1200" spc="-1" dirty="0">
              <a:solidFill>
                <a:prstClr val="black"/>
              </a:solidFill>
              <a:latin typeface="Times New Roman"/>
            </a:endParaRPr>
          </a:p>
        </p:txBody>
      </p:sp>
    </p:spTree>
    <p:extLst>
      <p:ext uri="{BB962C8B-B14F-4D97-AF65-F5344CB8AC3E}">
        <p14:creationId xmlns:p14="http://schemas.microsoft.com/office/powerpoint/2010/main" val="2191369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10590-BD14-B2A2-C964-E4D6B0A697AA}"/>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AA3E4AAC-FEBA-E32C-1E19-6F94835C9127}"/>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012F78A8-E1D2-ED31-AEF6-3A3AA1709526}"/>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B8282797-D152-7DD0-89EF-15D9A856E8E4}"/>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4</a:t>
            </a:fld>
            <a:endParaRPr lang="es-ES" sz="1200" spc="-1" dirty="0">
              <a:solidFill>
                <a:prstClr val="black"/>
              </a:solidFill>
              <a:latin typeface="Times New Roman"/>
            </a:endParaRPr>
          </a:p>
        </p:txBody>
      </p:sp>
    </p:spTree>
    <p:extLst>
      <p:ext uri="{BB962C8B-B14F-4D97-AF65-F5344CB8AC3E}">
        <p14:creationId xmlns:p14="http://schemas.microsoft.com/office/powerpoint/2010/main" val="423269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F4247-D598-3DC5-C0A2-77FFAC8EB7B6}"/>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59F7829A-F891-1433-0656-01D1F26804E7}"/>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8BBECDA1-9643-16B1-DD2F-63928C663B9F}"/>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A7B0010A-F8CF-BF62-C7B0-7C49EFDBAD6F}"/>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5</a:t>
            </a:fld>
            <a:endParaRPr lang="es-ES" sz="1200" spc="-1" dirty="0">
              <a:solidFill>
                <a:prstClr val="black"/>
              </a:solidFill>
              <a:latin typeface="Times New Roman"/>
            </a:endParaRPr>
          </a:p>
        </p:txBody>
      </p:sp>
    </p:spTree>
    <p:extLst>
      <p:ext uri="{BB962C8B-B14F-4D97-AF65-F5344CB8AC3E}">
        <p14:creationId xmlns:p14="http://schemas.microsoft.com/office/powerpoint/2010/main" val="3916837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ECCB-9841-9BFE-0590-8BEEED798607}"/>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31A04840-08DC-CC4A-40F4-CFFE031768DE}"/>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22420DEB-FA1E-987F-480F-D6157C3AE394}"/>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97154C95-B4AA-EA38-4260-28D369CC54A9}"/>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6</a:t>
            </a:fld>
            <a:endParaRPr lang="es-ES" sz="1200" spc="-1" dirty="0">
              <a:solidFill>
                <a:prstClr val="black"/>
              </a:solidFill>
              <a:latin typeface="Times New Roman"/>
            </a:endParaRPr>
          </a:p>
        </p:txBody>
      </p:sp>
    </p:spTree>
    <p:extLst>
      <p:ext uri="{BB962C8B-B14F-4D97-AF65-F5344CB8AC3E}">
        <p14:creationId xmlns:p14="http://schemas.microsoft.com/office/powerpoint/2010/main" val="1686252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54C42-2E61-DBFD-3BD2-79F9183F409C}"/>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0903FF54-C0C0-1EC6-D338-F22059513E28}"/>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181782C7-3BB3-38E9-9BDA-1DBFC4F8E422}"/>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442D50F3-8F89-E49A-2419-DDF56B1D95A3}"/>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7</a:t>
            </a:fld>
            <a:endParaRPr lang="es-ES" sz="1200" spc="-1" dirty="0">
              <a:solidFill>
                <a:prstClr val="black"/>
              </a:solidFill>
              <a:latin typeface="Times New Roman"/>
            </a:endParaRPr>
          </a:p>
        </p:txBody>
      </p:sp>
    </p:spTree>
    <p:extLst>
      <p:ext uri="{BB962C8B-B14F-4D97-AF65-F5344CB8AC3E}">
        <p14:creationId xmlns:p14="http://schemas.microsoft.com/office/powerpoint/2010/main" val="4165989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AC57E-A4DA-B0C4-9102-658A701335E3}"/>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E43F9D90-7BC1-9B7F-6AE5-08DDC9009947}"/>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59BBB271-A21C-F317-5992-F8E2EDA1369C}"/>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20FF1699-1F9E-374E-EF14-627BEF61A4B2}"/>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8</a:t>
            </a:fld>
            <a:endParaRPr lang="es-ES" sz="1200" spc="-1" dirty="0">
              <a:solidFill>
                <a:prstClr val="black"/>
              </a:solidFill>
              <a:latin typeface="Times New Roman"/>
            </a:endParaRPr>
          </a:p>
        </p:txBody>
      </p:sp>
    </p:spTree>
    <p:extLst>
      <p:ext uri="{BB962C8B-B14F-4D97-AF65-F5344CB8AC3E}">
        <p14:creationId xmlns:p14="http://schemas.microsoft.com/office/powerpoint/2010/main" val="3573386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27CF5-DB72-E3F9-0168-4B2CD3C59E67}"/>
            </a:ext>
          </a:extLst>
        </p:cNvPr>
        <p:cNvGrpSpPr/>
        <p:nvPr/>
      </p:nvGrpSpPr>
      <p:grpSpPr>
        <a:xfrm>
          <a:off x="0" y="0"/>
          <a:ext cx="0" cy="0"/>
          <a:chOff x="0" y="0"/>
          <a:chExt cx="0" cy="0"/>
        </a:xfrm>
      </p:grpSpPr>
      <p:sp>
        <p:nvSpPr>
          <p:cNvPr id="128" name="PlaceHolder 1">
            <a:extLst>
              <a:ext uri="{FF2B5EF4-FFF2-40B4-BE49-F238E27FC236}">
                <a16:creationId xmlns:a16="http://schemas.microsoft.com/office/drawing/2014/main" id="{4976DDEA-32D1-5C21-F53F-28F8899B7835}"/>
              </a:ext>
            </a:extLst>
          </p:cNvPr>
          <p:cNvSpPr>
            <a:spLocks noGrp="1" noRot="1" noChangeAspect="1"/>
          </p:cNvSpPr>
          <p:nvPr>
            <p:ph type="sldImg"/>
          </p:nvPr>
        </p:nvSpPr>
        <p:spPr>
          <a:xfrm>
            <a:off x="1671638" y="1085850"/>
            <a:ext cx="3905250" cy="2928938"/>
          </a:xfrm>
          <a:prstGeom prst="rect">
            <a:avLst/>
          </a:prstGeom>
        </p:spPr>
      </p:sp>
      <p:sp>
        <p:nvSpPr>
          <p:cNvPr id="129" name="PlaceHolder 2">
            <a:extLst>
              <a:ext uri="{FF2B5EF4-FFF2-40B4-BE49-F238E27FC236}">
                <a16:creationId xmlns:a16="http://schemas.microsoft.com/office/drawing/2014/main" id="{67B92A38-724F-414B-F46A-0C3ABE8035A4}"/>
              </a:ext>
            </a:extLst>
          </p:cNvPr>
          <p:cNvSpPr>
            <a:spLocks noGrp="1"/>
          </p:cNvSpPr>
          <p:nvPr>
            <p:ph type="body"/>
          </p:nvPr>
        </p:nvSpPr>
        <p:spPr>
          <a:xfrm>
            <a:off x="725430" y="4177991"/>
            <a:ext cx="5796741" cy="3418509"/>
          </a:xfrm>
          <a:prstGeom prst="rect">
            <a:avLst/>
          </a:prstGeom>
        </p:spPr>
        <p:txBody>
          <a:bodyPr>
            <a:noAutofit/>
          </a:bodyPr>
          <a:lstStyle/>
          <a:p>
            <a:endParaRPr lang="es-ES" sz="2000" b="0" strike="noStrike" spc="-1" dirty="0">
              <a:latin typeface="Arial"/>
            </a:endParaRPr>
          </a:p>
        </p:txBody>
      </p:sp>
      <p:sp>
        <p:nvSpPr>
          <p:cNvPr id="130" name="TextShape 3">
            <a:extLst>
              <a:ext uri="{FF2B5EF4-FFF2-40B4-BE49-F238E27FC236}">
                <a16:creationId xmlns:a16="http://schemas.microsoft.com/office/drawing/2014/main" id="{AAA576C8-7A26-CA98-2489-F0B10BCA0486}"/>
              </a:ext>
            </a:extLst>
          </p:cNvPr>
          <p:cNvSpPr txBox="1"/>
          <p:nvPr/>
        </p:nvSpPr>
        <p:spPr>
          <a:xfrm>
            <a:off x="4105063" y="8246043"/>
            <a:ext cx="3141049" cy="435382"/>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9</a:t>
            </a:fld>
            <a:endParaRPr lang="es-ES" sz="1200" spc="-1" dirty="0">
              <a:solidFill>
                <a:prstClr val="black"/>
              </a:solidFill>
              <a:latin typeface="Times New Roman"/>
            </a:endParaRPr>
          </a:p>
        </p:txBody>
      </p:sp>
    </p:spTree>
    <p:extLst>
      <p:ext uri="{BB962C8B-B14F-4D97-AF65-F5344CB8AC3E}">
        <p14:creationId xmlns:p14="http://schemas.microsoft.com/office/powerpoint/2010/main" val="243147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noRot="1" noChangeAspect="1"/>
          </p:cNvSpPr>
          <p:nvPr>
            <p:ph type="sldImg"/>
          </p:nvPr>
        </p:nvSpPr>
        <p:spPr>
          <a:xfrm>
            <a:off x="1414463" y="1162050"/>
            <a:ext cx="4181475" cy="3136900"/>
          </a:xfrm>
          <a:prstGeom prst="rect">
            <a:avLst/>
          </a:prstGeom>
        </p:spPr>
      </p:sp>
      <p:sp>
        <p:nvSpPr>
          <p:cNvPr id="129" name="PlaceHolder 2"/>
          <p:cNvSpPr>
            <a:spLocks noGrp="1"/>
          </p:cNvSpPr>
          <p:nvPr>
            <p:ph type="body"/>
          </p:nvPr>
        </p:nvSpPr>
        <p:spPr>
          <a:xfrm>
            <a:off x="701640" y="4473720"/>
            <a:ext cx="5606640" cy="3660480"/>
          </a:xfrm>
          <a:prstGeom prst="rect">
            <a:avLst/>
          </a:prstGeom>
        </p:spPr>
        <p:txBody>
          <a:bodyPr>
            <a:noAutofit/>
          </a:bodyPr>
          <a:lstStyle/>
          <a:p>
            <a:endParaRPr lang="es-ES" sz="2000" b="0" strike="noStrike" spc="-1" dirty="0">
              <a:latin typeface="Arial"/>
            </a:endParaRPr>
          </a:p>
        </p:txBody>
      </p:sp>
      <p:sp>
        <p:nvSpPr>
          <p:cNvPr id="130" name="TextShape 3"/>
          <p:cNvSpPr txBox="1"/>
          <p:nvPr/>
        </p:nvSpPr>
        <p:spPr>
          <a:xfrm>
            <a:off x="3970440" y="8829720"/>
            <a:ext cx="3038040" cy="466200"/>
          </a:xfrm>
          <a:prstGeom prst="rect">
            <a:avLst/>
          </a:prstGeom>
          <a:noFill/>
          <a:ln w="0">
            <a:noFill/>
          </a:ln>
        </p:spPr>
        <p:txBody>
          <a:bodyPr anchor="b">
            <a:noAutofit/>
          </a:bodyPr>
          <a:lstStyle/>
          <a:p>
            <a:pPr algn="r"/>
            <a:fld id="{5D85E928-7836-4200-875B-8DC3EAC4B4EC}" type="slidenum">
              <a:rPr lang="es-MX" sz="1200" spc="-1">
                <a:solidFill>
                  <a:srgbClr val="000000"/>
                </a:solidFill>
              </a:rPr>
              <a:pPr algn="r"/>
              <a:t>10</a:t>
            </a:fld>
            <a:endParaRPr lang="es-ES" sz="1200" spc="-1" dirty="0">
              <a:solidFill>
                <a:prstClr val="black"/>
              </a:solidFill>
              <a:latin typeface="Times New Roman"/>
            </a:endParaRPr>
          </a:p>
        </p:txBody>
      </p:sp>
    </p:spTree>
    <p:extLst>
      <p:ext uri="{BB962C8B-B14F-4D97-AF65-F5344CB8AC3E}">
        <p14:creationId xmlns:p14="http://schemas.microsoft.com/office/powerpoint/2010/main" val="3748856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4ED21F4A-70F4-4C3C-8EDA-61531A798394}" type="slidenum">
              <a:rPr lang="es-MX" smtClean="0"/>
              <a:pPr/>
              <a:t>11</a:t>
            </a:fld>
            <a:endParaRPr lang="es-MX" dirty="0"/>
          </a:p>
        </p:txBody>
      </p:sp>
    </p:spTree>
    <p:extLst>
      <p:ext uri="{BB962C8B-B14F-4D97-AF65-F5344CB8AC3E}">
        <p14:creationId xmlns:p14="http://schemas.microsoft.com/office/powerpoint/2010/main" val="2999454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noRot="1" noChangeAspect="1"/>
          </p:cNvSpPr>
          <p:nvPr>
            <p:ph type="sldImg"/>
          </p:nvPr>
        </p:nvSpPr>
        <p:spPr>
          <a:xfrm>
            <a:off x="1414463" y="1162050"/>
            <a:ext cx="4181475" cy="3136900"/>
          </a:xfrm>
          <a:prstGeom prst="rect">
            <a:avLst/>
          </a:prstGeom>
        </p:spPr>
      </p:sp>
      <p:sp>
        <p:nvSpPr>
          <p:cNvPr id="129" name="PlaceHolder 2"/>
          <p:cNvSpPr>
            <a:spLocks noGrp="1"/>
          </p:cNvSpPr>
          <p:nvPr>
            <p:ph type="body"/>
          </p:nvPr>
        </p:nvSpPr>
        <p:spPr>
          <a:xfrm>
            <a:off x="701640" y="4473720"/>
            <a:ext cx="5606640" cy="3660480"/>
          </a:xfrm>
          <a:prstGeom prst="rect">
            <a:avLst/>
          </a:prstGeom>
        </p:spPr>
        <p:txBody>
          <a:bodyPr>
            <a:noAutofit/>
          </a:bodyPr>
          <a:lstStyle/>
          <a:p>
            <a:endParaRPr lang="es-ES" sz="2000" b="0" strike="noStrike" spc="-1">
              <a:latin typeface="Arial"/>
            </a:endParaRPr>
          </a:p>
        </p:txBody>
      </p:sp>
      <p:sp>
        <p:nvSpPr>
          <p:cNvPr id="130" name="TextShape 3"/>
          <p:cNvSpPr txBox="1"/>
          <p:nvPr/>
        </p:nvSpPr>
        <p:spPr>
          <a:xfrm>
            <a:off x="3970440" y="8829720"/>
            <a:ext cx="3038040" cy="466200"/>
          </a:xfrm>
          <a:prstGeom prst="rect">
            <a:avLst/>
          </a:prstGeom>
          <a:noFill/>
          <a:ln w="0">
            <a:noFill/>
          </a:ln>
        </p:spPr>
        <p:txBody>
          <a:bodyPr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85E928-7836-4200-875B-8DC3EAC4B4EC}" type="slidenum">
              <a:rPr kumimoji="0" lang="es-MX" sz="1200" b="0" i="0" u="none" strike="noStrike" kern="1200" cap="none" spc="-1" normalizeH="0" baseline="0" noProof="0">
                <a:ln>
                  <a:noFill/>
                </a:ln>
                <a:solidFill>
                  <a:srgbClr val="000000"/>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ES" sz="1200" b="0" i="0" u="none" strike="noStrike" kern="1200" cap="none" spc="-1" normalizeH="0" baseline="0" noProof="0">
              <a:ln>
                <a:noFill/>
              </a:ln>
              <a:solidFill>
                <a:prstClr val="black"/>
              </a:solidFill>
              <a:effectLst/>
              <a:uLnTx/>
              <a:uFillTx/>
              <a:latin typeface="Times New Roman"/>
            </a:endParaRPr>
          </a:p>
        </p:txBody>
      </p:sp>
    </p:spTree>
    <p:extLst>
      <p:ext uri="{BB962C8B-B14F-4D97-AF65-F5344CB8AC3E}">
        <p14:creationId xmlns:p14="http://schemas.microsoft.com/office/powerpoint/2010/main" val="1888958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1671638" y="1085850"/>
            <a:ext cx="3905250" cy="2928938"/>
          </a:xfrm>
          <a:prstGeom prst="rect">
            <a:avLst/>
          </a:prstGeom>
        </p:spPr>
      </p:sp>
      <p:sp>
        <p:nvSpPr>
          <p:cNvPr id="120" name="PlaceHolder 2"/>
          <p:cNvSpPr>
            <a:spLocks noGrp="1"/>
          </p:cNvSpPr>
          <p:nvPr>
            <p:ph type="body"/>
          </p:nvPr>
        </p:nvSpPr>
        <p:spPr>
          <a:xfrm>
            <a:off x="725430" y="4177991"/>
            <a:ext cx="5796741" cy="3418509"/>
          </a:xfrm>
          <a:prstGeom prst="rect">
            <a:avLst/>
          </a:prstGeom>
        </p:spPr>
        <p:txBody>
          <a:bodyPr>
            <a:noAutofit/>
          </a:bodyPr>
          <a:lstStyle/>
          <a:p>
            <a:endParaRPr lang="es-ES" sz="2000" b="0" strike="noStrike" spc="-1">
              <a:latin typeface="Arial"/>
            </a:endParaRPr>
          </a:p>
        </p:txBody>
      </p:sp>
      <p:sp>
        <p:nvSpPr>
          <p:cNvPr id="121" name="TextShape 3"/>
          <p:cNvSpPr txBox="1"/>
          <p:nvPr/>
        </p:nvSpPr>
        <p:spPr>
          <a:xfrm>
            <a:off x="4105063" y="8246043"/>
            <a:ext cx="3141049" cy="435382"/>
          </a:xfrm>
          <a:prstGeom prst="rect">
            <a:avLst/>
          </a:prstGeom>
          <a:noFill/>
          <a:ln w="0">
            <a:noFill/>
          </a:ln>
        </p:spPr>
        <p:txBody>
          <a:bodyPr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0B7C0-798F-4DAF-B763-BBCADAD812A8}" type="slidenum">
              <a:rPr kumimoji="0" lang="es-MX" sz="1200" b="0" i="0" u="none" strike="noStrike" kern="1200" cap="none" spc="-1"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ES" sz="1200" b="0" i="0" u="none" strike="noStrike" kern="1200" cap="none" spc="-1" normalizeH="0" baseline="0" noProof="0">
              <a:ln>
                <a:noFill/>
              </a:ln>
              <a:solidFill>
                <a:prstClr val="black"/>
              </a:solidFill>
              <a:effectLst/>
              <a:uLnTx/>
              <a:uFillTx/>
              <a:latin typeface="Times New Roman"/>
            </a:endParaRPr>
          </a:p>
        </p:txBody>
      </p:sp>
    </p:spTree>
    <p:extLst>
      <p:ext uri="{BB962C8B-B14F-4D97-AF65-F5344CB8AC3E}">
        <p14:creationId xmlns:p14="http://schemas.microsoft.com/office/powerpoint/2010/main" val="412202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1127125" y="1222375"/>
            <a:ext cx="4394200" cy="3297238"/>
          </a:xfrm>
          <a:prstGeom prst="rect">
            <a:avLst/>
          </a:prstGeom>
        </p:spPr>
      </p:sp>
      <p:sp>
        <p:nvSpPr>
          <p:cNvPr id="120" name="PlaceHolder 2"/>
          <p:cNvSpPr>
            <a:spLocks noGrp="1"/>
          </p:cNvSpPr>
          <p:nvPr>
            <p:ph type="body"/>
          </p:nvPr>
        </p:nvSpPr>
        <p:spPr>
          <a:xfrm>
            <a:off x="665414" y="4703671"/>
            <a:ext cx="5317167" cy="3848630"/>
          </a:xfrm>
          <a:prstGeom prst="rect">
            <a:avLst/>
          </a:prstGeom>
        </p:spPr>
        <p:txBody>
          <a:bodyPr>
            <a:noAutofit/>
          </a:bodyPr>
          <a:lstStyle/>
          <a:p>
            <a:endParaRPr lang="es-ES" sz="2000" b="0" strike="noStrike" spc="-1" dirty="0">
              <a:latin typeface="Arial"/>
            </a:endParaRPr>
          </a:p>
        </p:txBody>
      </p:sp>
      <p:sp>
        <p:nvSpPr>
          <p:cNvPr id="121" name="TextShape 3"/>
          <p:cNvSpPr txBox="1"/>
          <p:nvPr/>
        </p:nvSpPr>
        <p:spPr>
          <a:xfrm>
            <a:off x="3765444" y="9283570"/>
            <a:ext cx="2881185" cy="490163"/>
          </a:xfrm>
          <a:prstGeom prst="rect">
            <a:avLst/>
          </a:prstGeom>
          <a:noFill/>
          <a:ln w="0">
            <a:noFill/>
          </a:ln>
        </p:spPr>
        <p:txBody>
          <a:bodyPr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0B7C0-798F-4DAF-B763-BBCADAD812A8}" type="slidenum">
              <a:rPr kumimoji="0" lang="es-MX" sz="1200" b="0" i="0" u="none" strike="noStrike" kern="1200" cap="none" spc="-1"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ES" sz="1200" b="0" i="0" u="none" strike="noStrike" kern="1200" cap="none" spc="-1" normalizeH="0" baseline="0" noProof="0">
              <a:ln>
                <a:noFill/>
              </a:ln>
              <a:solidFill>
                <a:prstClr val="black"/>
              </a:solidFill>
              <a:effectLst/>
              <a:uLnTx/>
              <a:uFillTx/>
              <a:latin typeface="Times New Roman"/>
            </a:endParaRPr>
          </a:p>
        </p:txBody>
      </p:sp>
    </p:spTree>
    <p:extLst>
      <p:ext uri="{BB962C8B-B14F-4D97-AF65-F5344CB8AC3E}">
        <p14:creationId xmlns:p14="http://schemas.microsoft.com/office/powerpoint/2010/main" val="858221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PlaceHolder 1"/>
          <p:cNvSpPr>
            <a:spLocks noGrp="1" noRot="1" noChangeAspect="1"/>
          </p:cNvSpPr>
          <p:nvPr>
            <p:ph type="sldImg"/>
          </p:nvPr>
        </p:nvSpPr>
        <p:spPr>
          <a:xfrm>
            <a:off x="1414463" y="1162050"/>
            <a:ext cx="4179887" cy="3135313"/>
          </a:xfrm>
          <a:prstGeom prst="rect">
            <a:avLst/>
          </a:prstGeom>
          <a:ln w="0">
            <a:noFill/>
          </a:ln>
        </p:spPr>
      </p:sp>
      <p:sp>
        <p:nvSpPr>
          <p:cNvPr id="46" name="PlaceHolder 2"/>
          <p:cNvSpPr>
            <a:spLocks noGrp="1"/>
          </p:cNvSpPr>
          <p:nvPr>
            <p:ph type="body"/>
          </p:nvPr>
        </p:nvSpPr>
        <p:spPr>
          <a:xfrm>
            <a:off x="701640" y="4473720"/>
            <a:ext cx="5605200" cy="3659040"/>
          </a:xfrm>
          <a:prstGeom prst="rect">
            <a:avLst/>
          </a:prstGeom>
          <a:noFill/>
          <a:ln w="0">
            <a:noFill/>
          </a:ln>
        </p:spPr>
        <p:txBody>
          <a:bodyPr lIns="0" tIns="0" rIns="0" bIns="0" anchor="t">
            <a:noAutofit/>
          </a:bodyPr>
          <a:lstStyle/>
          <a:p>
            <a:pPr indent="0">
              <a:buNone/>
            </a:pPr>
            <a:endParaRPr lang="es-ES" sz="1800" b="0" u="none" strike="noStrike">
              <a:solidFill>
                <a:srgbClr val="000000"/>
              </a:solidFill>
              <a:effectLst/>
              <a:uFillTx/>
              <a:latin typeface="Arial"/>
            </a:endParaRPr>
          </a:p>
        </p:txBody>
      </p:sp>
      <p:sp>
        <p:nvSpPr>
          <p:cNvPr id="47" name="TextShape 3"/>
          <p:cNvSpPr/>
          <p:nvPr/>
        </p:nvSpPr>
        <p:spPr>
          <a:xfrm>
            <a:off x="3970440" y="8829720"/>
            <a:ext cx="3036600" cy="46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tabLst>
                <a:tab pos="0" algn="l"/>
              </a:tabLst>
            </a:pPr>
            <a:fld id="{CFBF0D72-A53C-4F25-B472-8D76270FA861}" type="slidenum">
              <a:rPr lang="es-MX" sz="1200" b="0" u="none" strike="noStrike">
                <a:solidFill>
                  <a:srgbClr val="000000"/>
                </a:solidFill>
                <a:effectLst/>
                <a:uFillTx/>
                <a:latin typeface="Arial"/>
                <a:ea typeface="+mn-ea"/>
              </a:rPr>
              <a:t>15</a:t>
            </a:fld>
            <a:endParaRPr lang="es-ES" sz="1200" b="0" u="none" strike="noStrike">
              <a:solidFill>
                <a:srgbClr val="000000"/>
              </a:solidFill>
              <a:effectLst/>
              <a:uFillTx/>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1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1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1122480"/>
            <a:ext cx="7772040" cy="11066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1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1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1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1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2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2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2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2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2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2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1122480"/>
            <a:ext cx="7772040" cy="2387160"/>
          </a:xfrm>
          <a:prstGeom prst="rect">
            <a:avLst/>
          </a:prstGeom>
        </p:spPr>
        <p:txBody>
          <a:bodyPr lIns="0" tIns="0" rIns="0" bIns="0" anchor="ctr">
            <a:noAutofit/>
          </a:bodyPr>
          <a:lstStyle/>
          <a:p>
            <a:endParaRPr lang="es-MX" sz="1800" b="0" strike="noStrike" spc="-1">
              <a:solidFill>
                <a:srgbClr val="000000"/>
              </a:solidFill>
              <a:latin typeface="Calibri"/>
            </a:endParaRPr>
          </a:p>
        </p:txBody>
      </p:sp>
      <p:sp>
        <p:nvSpPr>
          <p:cNvPr id="3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3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
        <p:nvSpPr>
          <p:cNvPr id="4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s-MX"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1" y="1122363"/>
            <a:ext cx="7772400" cy="2387600"/>
          </a:xfrm>
        </p:spPr>
        <p:txBody>
          <a:bodyPr anchor="b"/>
          <a:lstStyle>
            <a:lvl1pPr algn="ctr">
              <a:defRPr sz="586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1" y="3602038"/>
            <a:ext cx="6858000" cy="1655762"/>
          </a:xfrm>
        </p:spPr>
        <p:txBody>
          <a:bodyPr/>
          <a:lstStyle>
            <a:lvl1pPr marL="0" indent="0" algn="ctr">
              <a:buNone/>
              <a:defRPr sz="2345"/>
            </a:lvl1pPr>
            <a:lvl2pPr marL="446639" indent="0" algn="ctr">
              <a:buNone/>
              <a:defRPr sz="1954"/>
            </a:lvl2pPr>
            <a:lvl3pPr marL="893277" indent="0" algn="ctr">
              <a:buNone/>
              <a:defRPr sz="1758"/>
            </a:lvl3pPr>
            <a:lvl4pPr marL="1339916" indent="0" algn="ctr">
              <a:buNone/>
              <a:defRPr sz="1563"/>
            </a:lvl4pPr>
            <a:lvl5pPr marL="1786555" indent="0" algn="ctr">
              <a:buNone/>
              <a:defRPr sz="1563"/>
            </a:lvl5pPr>
            <a:lvl6pPr marL="2233193" indent="0" algn="ctr">
              <a:buNone/>
              <a:defRPr sz="1563"/>
            </a:lvl6pPr>
            <a:lvl7pPr marL="2679832" indent="0" algn="ctr">
              <a:buNone/>
              <a:defRPr sz="1563"/>
            </a:lvl7pPr>
            <a:lvl8pPr marL="3126471" indent="0" algn="ctr">
              <a:buNone/>
              <a:defRPr sz="1563"/>
            </a:lvl8pPr>
            <a:lvl9pPr marL="3573109" indent="0" algn="ctr">
              <a:buNone/>
              <a:defRPr sz="1563"/>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7B8448F-42BC-44B1-A0BC-E1BFB59F3FC4}" type="datetimeFigureOut">
              <a:rPr lang="es-MX" smtClean="0"/>
              <a:t>13/02/26</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4A2DFD66-43C9-4DE5-86BC-391B73A54B40}" type="slidenum">
              <a:rPr lang="es-MX" smtClean="0"/>
              <a:t>‹#›</a:t>
            </a:fld>
            <a:endParaRPr lang="es-MX" dirty="0"/>
          </a:p>
        </p:txBody>
      </p:sp>
    </p:spTree>
    <p:extLst>
      <p:ext uri="{BB962C8B-B14F-4D97-AF65-F5344CB8AC3E}">
        <p14:creationId xmlns:p14="http://schemas.microsoft.com/office/powerpoint/2010/main" val="1475086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22480"/>
            <a:ext cx="7772040" cy="2387160"/>
          </a:xfrm>
          <a:prstGeom prst="rect">
            <a:avLst/>
          </a:prstGeom>
        </p:spPr>
        <p:txBody>
          <a:bodyPr anchor="b">
            <a:noAutofit/>
          </a:bodyPr>
          <a:lstStyle/>
          <a:p>
            <a:pPr algn="ctr">
              <a:lnSpc>
                <a:spcPct val="90000"/>
              </a:lnSpc>
            </a:pPr>
            <a:r>
              <a:rPr lang="es-ES" sz="6000" b="0" strike="noStrike" spc="-1">
                <a:solidFill>
                  <a:srgbClr val="000000"/>
                </a:solidFill>
                <a:latin typeface="Calibri Light"/>
              </a:rPr>
              <a:t>Haga clic para modificar el estilo de título del patrón</a:t>
            </a:r>
            <a:endParaRPr lang="es-MX" sz="6000" b="0" strike="noStrike" spc="-1">
              <a:solidFill>
                <a:srgbClr val="000000"/>
              </a:solidFill>
              <a:latin typeface="Calibri"/>
            </a:endParaRPr>
          </a:p>
        </p:txBody>
      </p:sp>
      <p:sp>
        <p:nvSpPr>
          <p:cNvPr id="6" name="PlaceHolder 2"/>
          <p:cNvSpPr>
            <a:spLocks noGrp="1"/>
          </p:cNvSpPr>
          <p:nvPr>
            <p:ph type="dt"/>
          </p:nvPr>
        </p:nvSpPr>
        <p:spPr>
          <a:xfrm>
            <a:off x="628560" y="6356520"/>
            <a:ext cx="2057040" cy="364680"/>
          </a:xfrm>
          <a:prstGeom prst="rect">
            <a:avLst/>
          </a:prstGeom>
        </p:spPr>
        <p:txBody>
          <a:bodyPr anchor="ctr">
            <a:noAutofit/>
          </a:bodyPr>
          <a:lstStyle/>
          <a:p>
            <a:pPr>
              <a:lnSpc>
                <a:spcPct val="100000"/>
              </a:lnSpc>
            </a:pPr>
            <a:fld id="{E342D831-B0BA-4DB2-81CC-9F3DC1F5BF92}" type="datetime">
              <a:rPr lang="es-MX" sz="1200" b="0" strike="noStrike" spc="-1">
                <a:solidFill>
                  <a:srgbClr val="8B8B8B"/>
                </a:solidFill>
                <a:latin typeface="Calibri"/>
              </a:rPr>
              <a:t>13/02/26</a:t>
            </a:fld>
            <a:endParaRPr lang="es-ES" sz="1200" b="0" strike="noStrike" spc="-1">
              <a:latin typeface="Times New Roman"/>
            </a:endParaRPr>
          </a:p>
        </p:txBody>
      </p:sp>
      <p:sp>
        <p:nvSpPr>
          <p:cNvPr id="2" name="PlaceHolder 3"/>
          <p:cNvSpPr>
            <a:spLocks noGrp="1"/>
          </p:cNvSpPr>
          <p:nvPr>
            <p:ph type="ftr"/>
          </p:nvPr>
        </p:nvSpPr>
        <p:spPr>
          <a:xfrm>
            <a:off x="3029040" y="6356520"/>
            <a:ext cx="3085920" cy="364680"/>
          </a:xfrm>
          <a:prstGeom prst="rect">
            <a:avLst/>
          </a:prstGeom>
        </p:spPr>
        <p:txBody>
          <a:bodyPr anchor="ctr">
            <a:noAutofit/>
          </a:bodyPr>
          <a:lstStyle/>
          <a:p>
            <a:endParaRPr lang="es-ES" sz="2400" b="0" strike="noStrike" spc="-1">
              <a:latin typeface="Times New Roman"/>
            </a:endParaRPr>
          </a:p>
        </p:txBody>
      </p:sp>
      <p:sp>
        <p:nvSpPr>
          <p:cNvPr id="3" name="PlaceHolder 4"/>
          <p:cNvSpPr>
            <a:spLocks noGrp="1"/>
          </p:cNvSpPr>
          <p:nvPr>
            <p:ph type="sldNum"/>
          </p:nvPr>
        </p:nvSpPr>
        <p:spPr>
          <a:xfrm>
            <a:off x="6458040" y="6356520"/>
            <a:ext cx="2057040" cy="364680"/>
          </a:xfrm>
          <a:prstGeom prst="rect">
            <a:avLst/>
          </a:prstGeom>
        </p:spPr>
        <p:txBody>
          <a:bodyPr anchor="ctr">
            <a:noAutofit/>
          </a:bodyPr>
          <a:lstStyle/>
          <a:p>
            <a:pPr algn="r">
              <a:lnSpc>
                <a:spcPct val="100000"/>
              </a:lnSpc>
            </a:pPr>
            <a:fld id="{564BCCB7-949E-4CDC-A134-06E00B7FDA0F}" type="slidenum">
              <a:rPr lang="es-MX" sz="1200" b="0" strike="noStrike" spc="-1">
                <a:solidFill>
                  <a:srgbClr val="8B8B8B"/>
                </a:solidFill>
                <a:latin typeface="Calibri"/>
              </a:rPr>
              <a:t>‹#›</a:t>
            </a:fld>
            <a:endParaRPr lang="es-E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s-MX"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s-MX"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s-MX"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s-MX"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s-MX"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s-MX"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ustomShape 1"/>
          <p:cNvSpPr/>
          <p:nvPr/>
        </p:nvSpPr>
        <p:spPr>
          <a:xfrm>
            <a:off x="2476399" y="480030"/>
            <a:ext cx="3303169" cy="239121"/>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977" b="1" spc="-1">
                <a:solidFill>
                  <a:srgbClr val="A6A6A6"/>
                </a:solidFill>
                <a:latin typeface="Lucida Fax"/>
                <a:ea typeface="Calibri"/>
              </a:rPr>
              <a:t>FISCALIA DE INVESTIGACIÓN METROPOLITANA</a:t>
            </a:r>
            <a:endParaRPr lang="es-ES" sz="977" spc="-1">
              <a:solidFill>
                <a:prstClr val="black"/>
              </a:solidFill>
              <a:latin typeface="Arial"/>
            </a:endParaRPr>
          </a:p>
        </p:txBody>
      </p:sp>
      <p:sp>
        <p:nvSpPr>
          <p:cNvPr id="49" name="CustomShape 2"/>
          <p:cNvSpPr/>
          <p:nvPr/>
        </p:nvSpPr>
        <p:spPr>
          <a:xfrm>
            <a:off x="1773291" y="284485"/>
            <a:ext cx="4710088" cy="246639"/>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1026" b="1" spc="-1">
                <a:solidFill>
                  <a:srgbClr val="A6A6A6"/>
                </a:solidFill>
                <a:latin typeface="Lucida Fax"/>
                <a:ea typeface="Calibri"/>
              </a:rPr>
              <a:t> </a:t>
            </a:r>
            <a:r>
              <a:rPr lang="es-MX" sz="977" b="1" spc="-1">
                <a:solidFill>
                  <a:srgbClr val="A6A6A6"/>
                </a:solidFill>
                <a:latin typeface="Lucida Fax"/>
                <a:ea typeface="Calibri"/>
              </a:rPr>
              <a:t>REPORTE DE PARTICIPACIÓN MINISTERIAL EN AUDIENCIA JUDICIAL</a:t>
            </a:r>
            <a:endParaRPr lang="es-ES" sz="977" spc="-1">
              <a:solidFill>
                <a:prstClr val="black"/>
              </a:solidFill>
              <a:latin typeface="Arial"/>
            </a:endParaRPr>
          </a:p>
        </p:txBody>
      </p:sp>
      <p:graphicFrame>
        <p:nvGraphicFramePr>
          <p:cNvPr id="5" name="Table 3">
            <a:extLst>
              <a:ext uri="{FF2B5EF4-FFF2-40B4-BE49-F238E27FC236}">
                <a16:creationId xmlns:a16="http://schemas.microsoft.com/office/drawing/2014/main" id="{42AA26C9-6C7A-5977-79F6-A452E8812083}"/>
              </a:ext>
            </a:extLst>
          </p:cNvPr>
          <p:cNvGraphicFramePr/>
          <p:nvPr>
            <p:extLst>
              <p:ext uri="{D42A27DB-BD31-4B8C-83A1-F6EECF244321}">
                <p14:modId xmlns:p14="http://schemas.microsoft.com/office/powerpoint/2010/main" val="3011350746"/>
              </p:ext>
            </p:extLst>
          </p:nvPr>
        </p:nvGraphicFramePr>
        <p:xfrm>
          <a:off x="240863" y="1142380"/>
          <a:ext cx="8648910" cy="3695221"/>
        </p:xfrm>
        <a:graphic>
          <a:graphicData uri="http://schemas.openxmlformats.org/drawingml/2006/table">
            <a:tbl>
              <a:tblPr/>
              <a:tblGrid>
                <a:gridCol w="1306583">
                  <a:extLst>
                    <a:ext uri="{9D8B030D-6E8A-4147-A177-3AD203B41FA5}">
                      <a16:colId xmlns:a16="http://schemas.microsoft.com/office/drawing/2014/main" val="20000"/>
                    </a:ext>
                  </a:extLst>
                </a:gridCol>
                <a:gridCol w="3860829">
                  <a:extLst>
                    <a:ext uri="{9D8B030D-6E8A-4147-A177-3AD203B41FA5}">
                      <a16:colId xmlns:a16="http://schemas.microsoft.com/office/drawing/2014/main" val="20001"/>
                    </a:ext>
                  </a:extLst>
                </a:gridCol>
                <a:gridCol w="3481498">
                  <a:extLst>
                    <a:ext uri="{9D8B030D-6E8A-4147-A177-3AD203B41FA5}">
                      <a16:colId xmlns:a16="http://schemas.microsoft.com/office/drawing/2014/main" val="20002"/>
                    </a:ext>
                  </a:extLst>
                </a:gridCol>
              </a:tblGrid>
              <a:tr h="279159">
                <a:tc>
                  <a:txBody>
                    <a:bodyPr/>
                    <a:lstStyle/>
                    <a:p>
                      <a:pPr algn="just">
                        <a:lnSpc>
                          <a:spcPct val="150000"/>
                        </a:lnSpc>
                      </a:pPr>
                      <a:r>
                        <a:rPr lang="es-MX" sz="850" b="1" strike="noStrike" spc="-1" dirty="0">
                          <a:solidFill>
                            <a:srgbClr val="000000"/>
                          </a:solidFill>
                          <a:latin typeface="Lucida Fax"/>
                          <a:ea typeface="Calibri"/>
                        </a:rPr>
                        <a:t>EXPEDIENTES </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ES" sz="850" b="0" strike="noStrike" spc="-1" dirty="0">
                          <a:latin typeface="Lucida Fax" panose="02060602050505020204" pitchFamily="18" charset="0"/>
                        </a:rPr>
                        <a:t>CDI:</a:t>
                      </a:r>
                      <a:r>
                        <a:rPr lang="es-ES" sz="850" b="0" strike="noStrike" spc="-1" baseline="0" dirty="0">
                          <a:latin typeface="Lucida Fax" panose="02060602050505020204" pitchFamily="18" charset="0"/>
                        </a:rPr>
                        <a:t> 651/2020/UF</a:t>
                      </a:r>
                      <a:endParaRPr lang="es-ES" sz="850" b="0" strike="noStrike" kern="1200" spc="-1" dirty="0">
                        <a:solidFill>
                          <a:schemeClr val="tx1"/>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00000"/>
                        </a:lnSpc>
                        <a:tabLst>
                          <a:tab pos="0" algn="l"/>
                        </a:tabLst>
                      </a:pPr>
                      <a:r>
                        <a:rPr lang="es-MX" sz="850" b="0" strike="noStrike" spc="-1" dirty="0">
                          <a:solidFill>
                            <a:srgbClr val="000000"/>
                          </a:solidFill>
                          <a:latin typeface="Lucida Fax"/>
                          <a:ea typeface="Calibri"/>
                        </a:rPr>
                        <a:t>CP: 476/2020/PUEBLA</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noFill/>
                  </a:tcPr>
                </a:tc>
                <a:extLst>
                  <a:ext uri="{0D108BD9-81ED-4DB2-BD59-A6C34878D82A}">
                    <a16:rowId xmlns:a16="http://schemas.microsoft.com/office/drawing/2014/main" val="10000"/>
                  </a:ext>
                </a:extLst>
              </a:tr>
              <a:tr h="342435">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00000"/>
                        </a:lnSpc>
                        <a:tabLst>
                          <a:tab pos="0" algn="l"/>
                        </a:tabLst>
                      </a:pPr>
                      <a:r>
                        <a:rPr lang="es-MX" sz="850" b="0" strike="noStrike" spc="-1" baseline="0" dirty="0">
                          <a:solidFill>
                            <a:srgbClr val="000000"/>
                          </a:solidFill>
                          <a:latin typeface="Lucida Fax" panose="02060602050505020204" pitchFamily="18" charset="0"/>
                          <a:ea typeface="Calibri"/>
                        </a:rPr>
                        <a:t>09 DE FEBRERO DE </a:t>
                      </a:r>
                      <a:r>
                        <a:rPr lang="es-MX" sz="850" b="0" strike="noStrike" spc="-1" dirty="0">
                          <a:solidFill>
                            <a:srgbClr val="000000"/>
                          </a:solidFill>
                          <a:latin typeface="Lucida Fax" panose="02060602050505020204" pitchFamily="18" charset="0"/>
                          <a:ea typeface="Calibri"/>
                        </a:rPr>
                        <a:t>2026</a:t>
                      </a:r>
                    </a:p>
                  </a:txBody>
                  <a:tcPr marL="68400" marR="68400">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l">
                        <a:lnSpc>
                          <a:spcPct val="100000"/>
                        </a:lnSpc>
                        <a:tabLst>
                          <a:tab pos="0" algn="l"/>
                        </a:tabLst>
                      </a:pPr>
                      <a:r>
                        <a:rPr lang="es-MX" sz="850" b="0" strike="noStrike" spc="-1" baseline="0" dirty="0">
                          <a:solidFill>
                            <a:srgbClr val="000000"/>
                          </a:solidFill>
                          <a:latin typeface="Lucida Fax" panose="02060602050505020204" pitchFamily="18" charset="0"/>
                          <a:ea typeface="Calibri"/>
                        </a:rPr>
                        <a:t>HORA PROGRAMADA: </a:t>
                      </a:r>
                      <a:r>
                        <a:rPr lang="es-US" sz="850" b="0" strike="noStrike" spc="-1" baseline="0" dirty="0">
                          <a:solidFill>
                            <a:srgbClr val="000000"/>
                          </a:solidFill>
                          <a:latin typeface="Lucida Fax" panose="02060602050505020204" pitchFamily="18" charset="0"/>
                          <a:ea typeface="Calibri"/>
                        </a:rPr>
                        <a:t> 09:00 HORAS</a:t>
                      </a:r>
                      <a:endParaRPr lang="es-MX" sz="850" b="0" strike="noStrike" spc="-1" baseline="0" dirty="0">
                        <a:solidFill>
                          <a:srgbClr val="000000"/>
                        </a:solidFill>
                        <a:latin typeface="Lucida Fax" panose="02060602050505020204" pitchFamily="18" charset="0"/>
                        <a:ea typeface="Calibri"/>
                      </a:endParaRPr>
                    </a:p>
                    <a:p>
                      <a:pPr algn="l">
                        <a:lnSpc>
                          <a:spcPct val="100000"/>
                        </a:lnSpc>
                        <a:tabLst>
                          <a:tab pos="0" algn="l"/>
                        </a:tabLst>
                      </a:pPr>
                      <a:r>
                        <a:rPr lang="es-MX" sz="850" b="0" strike="noStrike" spc="-1" dirty="0">
                          <a:solidFill>
                            <a:srgbClr val="000000"/>
                          </a:solidFill>
                          <a:latin typeface="Lucida Fax" panose="02060602050505020204" pitchFamily="18" charset="0"/>
                          <a:ea typeface="Calibri"/>
                        </a:rPr>
                        <a:t>HORA INICIO:  09:17 HORAS</a:t>
                      </a:r>
                    </a:p>
                  </a:txBody>
                  <a:tcPr marL="68400" marR="68400">
                    <a:lnL w="12240" cap="flat" cmpd="sng" algn="ctr">
                      <a:solidFill>
                        <a:srgbClr val="000000"/>
                      </a:solidFill>
                      <a:prstDash val="solid"/>
                      <a:round/>
                      <a:headEnd type="none" w="med" len="med"/>
                      <a:tailEnd type="none" w="med" len="med"/>
                    </a:lnL>
                    <a:solidFill>
                      <a:schemeClr val="bg1"/>
                    </a:solidFill>
                  </a:tcPr>
                </a:tc>
                <a:extLst>
                  <a:ext uri="{0D108BD9-81ED-4DB2-BD59-A6C34878D82A}">
                    <a16:rowId xmlns:a16="http://schemas.microsoft.com/office/drawing/2014/main" val="10001"/>
                  </a:ext>
                </a:extLst>
              </a:tr>
              <a:tr h="279159">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MX" sz="850" b="0" strike="noStrike" kern="1200" spc="-1" dirty="0">
                          <a:solidFill>
                            <a:srgbClr val="000000"/>
                          </a:solidFill>
                          <a:latin typeface="Lucida Fax" panose="02060602050505020204" pitchFamily="18" charset="0"/>
                          <a:ea typeface="Calibri"/>
                          <a:cs typeface="+mn-cs"/>
                        </a:rPr>
                        <a:t>TENTATIVA DE HOMICIDIO CALIFICADO</a:t>
                      </a:r>
                      <a:endParaRPr lang="es-ES" sz="850" b="0" strike="noStrike" kern="1200" spc="-1" dirty="0">
                        <a:solidFill>
                          <a:srgbClr val="000000"/>
                        </a:solidFill>
                        <a:latin typeface="Lucida Fax" panose="02060602050505020204" pitchFamily="18" charset="0"/>
                        <a:ea typeface="Calibri"/>
                        <a:cs typeface="+mn-cs"/>
                      </a:endParaRPr>
                    </a:p>
                  </a:txBody>
                  <a:tcPr marL="66822" marR="66822" marT="44665" marB="44665">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79159">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ES" sz="850" b="0" strike="noStrike" kern="1200" spc="-1" dirty="0">
                          <a:solidFill>
                            <a:srgbClr val="000000"/>
                          </a:solidFill>
                          <a:latin typeface="Lucida Fax" panose="02060602050505020204" pitchFamily="18" charset="0"/>
                          <a:ea typeface="Calibri"/>
                          <a:cs typeface="+mn-cs"/>
                        </a:rPr>
                        <a:t>ISRAEL LUNA GONZALEZ</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3"/>
                  </a:ext>
                </a:extLst>
              </a:tr>
              <a:tr h="279159">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ES" sz="850" b="0" strike="noStrike" kern="1200" spc="-1" dirty="0">
                          <a:solidFill>
                            <a:srgbClr val="000000"/>
                          </a:solidFill>
                          <a:latin typeface="Lucida Fax" panose="02060602050505020204" pitchFamily="18" charset="0"/>
                          <a:ea typeface="Calibri"/>
                          <a:cs typeface="+mn-cs"/>
                        </a:rPr>
                        <a:t>DELFINO DE JESÚS AGUILAR PÉREZ</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658815">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kern="1200" spc="-1" dirty="0">
                          <a:solidFill>
                            <a:schemeClr val="tx1"/>
                          </a:solidFill>
                          <a:latin typeface="Lucida Fax" panose="02060602050505020204" pitchFamily="18" charset="0"/>
                          <a:ea typeface="+mn-ea"/>
                          <a:cs typeface="+mn-cs"/>
                        </a:rPr>
                        <a:t>EL DÍA 02 DE MARZO DE  2020, APROXIMADAMENTE A LAS 03:15 HORAS,  LA VICTIMA SE ENCONTRABA EN UN DEPARTAMENTO JUNTO CON OTROS TRES MASCULINOS, INGIRIENDO BEBIDAS EMBRIAGANTES, POSTERIORMENTE EMPEZARON A DISCUTIR Y EL IMPUTADO TOMÓ UN CUCHILLO Y SE LANZÓ SOBRE LA VÍCTIMA ENTERRANDOSELO EN VARIAS OCASIONES EN EL </a:t>
                      </a:r>
                      <a:r>
                        <a:rPr lang="es-MX" sz="850" b="0" strike="noStrike" kern="1200" spc="-1">
                          <a:solidFill>
                            <a:schemeClr val="tx1"/>
                          </a:solidFill>
                          <a:latin typeface="Lucida Fax" panose="02060602050505020204" pitchFamily="18" charset="0"/>
                          <a:ea typeface="+mn-ea"/>
                          <a:cs typeface="+mn-cs"/>
                        </a:rPr>
                        <a:t>CUERPO.</a:t>
                      </a:r>
                      <a:endParaRPr lang="es-ES" sz="850" b="0" strike="noStrike" kern="1200" spc="-1">
                        <a:solidFill>
                          <a:schemeClr val="tx1"/>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79159">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JUICIO ORAL (TERCER DÍA)</a:t>
                      </a:r>
                    </a:p>
                  </a:txBody>
                  <a:tcPr marL="66822" marR="66822" marT="44665" marB="44665">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79159">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kern="1200" dirty="0">
                          <a:solidFill>
                            <a:schemeClr val="tx1"/>
                          </a:solidFill>
                          <a:effectLst/>
                          <a:latin typeface="Lucida Fax" panose="02060602050505020204" pitchFamily="18" charset="0"/>
                          <a:ea typeface="+mn-ea"/>
                          <a:cs typeface="+mn-cs"/>
                        </a:rPr>
                        <a:t>ABOG. ANA ALICIA PONCE FRÍAS </a:t>
                      </a:r>
                      <a:r>
                        <a:rPr lang="es-MX" sz="850" kern="1200" baseline="0" dirty="0">
                          <a:solidFill>
                            <a:schemeClr val="tx1"/>
                          </a:solidFill>
                          <a:effectLst/>
                          <a:latin typeface="Lucida Fax" panose="02060602050505020204" pitchFamily="18" charset="0"/>
                          <a:ea typeface="+mn-ea"/>
                          <a:cs typeface="+mn-cs"/>
                        </a:rPr>
                        <a:t> </a:t>
                      </a:r>
                      <a:r>
                        <a:rPr lang="es-ES" sz="850" b="0" strike="noStrike" spc="-1" dirty="0">
                          <a:latin typeface="Lucida Fax" panose="02060602050505020204" pitchFamily="18" charset="0"/>
                        </a:rPr>
                        <a:t>MP</a:t>
                      </a:r>
                      <a:r>
                        <a:rPr lang="es-ES" sz="850" b="0" strike="noStrike" spc="-1" baseline="0" dirty="0">
                          <a:latin typeface="Lucida Fax" panose="02060602050505020204" pitchFamily="18" charset="0"/>
                        </a:rPr>
                        <a:t>: LAURA HERNÁNDEZ LÓPEZ ABOG. ELVI MAGALI GURIDI JAIMES</a:t>
                      </a:r>
                      <a:endParaRPr lang="es-ES" sz="850" b="0" strike="noStrike" spc="-1" dirty="0">
                        <a:latin typeface="Lucida Fax" panose="02060602050505020204" pitchFamily="18" charset="0"/>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268902">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kern="1200" spc="-1" dirty="0">
                          <a:solidFill>
                            <a:srgbClr val="FF0000"/>
                          </a:solidFill>
                          <a:latin typeface="Lucida Fax" panose="02060602050505020204" pitchFamily="18" charset="0"/>
                          <a:ea typeface="+mn-ea"/>
                          <a:cs typeface="+mn-cs"/>
                        </a:rPr>
                        <a:t>DESFILAN DOS ÓRGANOS DE PRUEBA. SE CONCLUYE EL DESFILE PROBATORIO POR LO QUE LA JUEZA SEÑALA PARA EL DÍA 12 DE FEBRERO DE 2026 A LAS 11:30 HORAS PARA DAR ALEGATOS DE CLAUSURA POR LAS PARTES.</a:t>
                      </a:r>
                      <a:endParaRPr lang="es-ES" sz="850" b="0" strike="noStrike" kern="1200" spc="-1" dirty="0">
                        <a:solidFill>
                          <a:srgbClr val="FF0000"/>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79159">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endParaRPr lang="es-ES" sz="850" b="0" strike="noStrike" spc="-1" dirty="0">
                        <a:latin typeface="Lucida Fax" panose="02060602050505020204" pitchFamily="18" charset="0"/>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79159">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PRESENCIAL</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7" name="Imagen 6" descr="Fiscalia-logo"/>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6487" y="258367"/>
            <a:ext cx="1596617" cy="460784"/>
          </a:xfrm>
          <a:prstGeom prst="rect">
            <a:avLst/>
          </a:prstGeom>
          <a:noFill/>
          <a:ln>
            <a:noFill/>
          </a:ln>
        </p:spPr>
      </p:pic>
      <p:pic>
        <p:nvPicPr>
          <p:cNvPr id="6" name="Imagen 7"/>
          <p:cNvPicPr/>
          <p:nvPr/>
        </p:nvPicPr>
        <p:blipFill>
          <a:blip r:embed="rId4"/>
          <a:srcRect l="34124" t="9793" r="33383" b="9458"/>
          <a:stretch/>
        </p:blipFill>
        <p:spPr>
          <a:xfrm>
            <a:off x="385070" y="283792"/>
            <a:ext cx="514440" cy="552960"/>
          </a:xfrm>
          <a:prstGeom prst="rect">
            <a:avLst/>
          </a:prstGeom>
          <a:ln w="0">
            <a:noFill/>
          </a:ln>
        </p:spPr>
      </p:pic>
    </p:spTree>
    <p:extLst>
      <p:ext uri="{BB962C8B-B14F-4D97-AF65-F5344CB8AC3E}">
        <p14:creationId xmlns:p14="http://schemas.microsoft.com/office/powerpoint/2010/main" val="167207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CustomShape 1"/>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p:cNvPicPr/>
          <p:nvPr/>
        </p:nvPicPr>
        <p:blipFill>
          <a:blip r:embed="rId3"/>
          <a:srcRect l="34124" t="9793" r="33383" b="9458"/>
          <a:stretch/>
        </p:blipFill>
        <p:spPr>
          <a:xfrm>
            <a:off x="486103" y="156367"/>
            <a:ext cx="307492" cy="489951"/>
          </a:xfrm>
          <a:prstGeom prst="rect">
            <a:avLst/>
          </a:prstGeom>
          <a:ln w="0">
            <a:noFill/>
          </a:ln>
        </p:spPr>
      </p:pic>
      <p:sp>
        <p:nvSpPr>
          <p:cNvPr id="67" name="CustomShape 2"/>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F6368BB0-1A07-42C7-9AA0-1F3BDE79F911}"/>
              </a:ext>
            </a:extLst>
          </p:cNvPr>
          <p:cNvGraphicFramePr/>
          <p:nvPr/>
        </p:nvGraphicFramePr>
        <p:xfrm>
          <a:off x="240465" y="970659"/>
          <a:ext cx="8457017" cy="4804824"/>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FGEP/CDI/FIM/COORD-FLAGRANCIA-I/001645/2026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423/2026/PUEBLA.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11:00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12:10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CONTRA LA SALUD EN SU MODALIDAD DE POSESIÓN SIMPLE (DEL NARCOTICO CONOCIDO COMO MARIHUANA)</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HUGO ROLANDO FUENTES FLORES</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LA SOCIEDAD.</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05 DE FEBRERO DE 2026, SIENDO APROXIMADAMENTE LAS 17:30  HORAS, AL ESTAR LOS ELEMENTOS DE LA POLICÍA MUNICIPAL DE PUEBLA, CON EL APOYO  DEL EJEMPLAR CANINO  REALIZANDO EL OPERATIVO CEDA 360 EN BOULEVARD NORTE, NÚMERO 4222, DE LA COLONIA LAS CUARTILLAS, PUEBLA, EN LA CENTRAL DE AUTOBUSES PUEBLA (CAPU) EL CANINO SE DETIENE FRENTE AL HOY INVESTIGADO. HACIENDO MARCAJE POSITIVO SIENDO QUE AL REALIZAR UNA INSPECCIÓN SE LE ENCUENTRA EN SU MOCHILA, VAPORIZADORES QUE CONTIENEN ACEITE THC (SUSTANCIA ACTIVA DE LA MARIHUANA) MOTIVO POR LO QUE ES DETENIDO Y PUESTO A DISPOSICIÓN DE ESTA AUTORIDAD MINISTERIAL.</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MIGUEL ÁNGEL MARTÍN HERNÁNDEZ JIMÉNEZ/ MP. MARÍA CELERINA OREA MORENO.</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1.- SE CALIFICA DE LEGAL LA DETENCIÓN 2.-SE CALIFICA DE LEGAL LA RETENCIÓN 3.-SE FORMULA IMPUTACIÓN 4.-DETENIDO SE ABSTIENE DE DECLARAR5.-SE VINCULA A PROCESO. 6.-DEFENSA PÚBLICA PLANTEA SUSPENSIÓN CONDICIONAL A PROCESO MISMA QUE ES AUTORIZADA POR EL JUEZ POR EL TÉRMINO DE 6 MESES,  CONSISTENTE EN FIRMA PERIÓDICA MENSUAL INICIANDO EL DÍA LUNES, RADICAR EN SU DOMICILIO,  REALIZAR DONACIÓN AL TRIBUNAL, TOMAR PLÁTICAS RESPECTO A LA PREVENCIÓN DE LAS DROGAS. </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chemeClr val="tx1"/>
                          </a:solidFill>
                          <a:latin typeface="Lucida Fax" panose="02060602050505020204" pitchFamily="18" charset="0"/>
                        </a:rPr>
                        <a:t>N/A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F5B58502-F357-6CCD-0F1A-6FC3D52D861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150564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B06DF-8479-BBFC-882E-8A34CA2B6E88}"/>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837F3933-53F7-EB63-E0A0-25C376392006}"/>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0343D277-00F3-242F-DCC7-1A6DB5632D80}"/>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E0C3C658-75A2-05BF-D419-CC367B311536}"/>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FF93F665-DEFF-8EC7-12B2-42E9F4D604D8}"/>
              </a:ext>
            </a:extLst>
          </p:cNvPr>
          <p:cNvGraphicFramePr/>
          <p:nvPr>
            <p:extLst>
              <p:ext uri="{D42A27DB-BD31-4B8C-83A1-F6EECF244321}">
                <p14:modId xmlns:p14="http://schemas.microsoft.com/office/powerpoint/2010/main" val="3427020305"/>
              </p:ext>
            </p:extLst>
          </p:nvPr>
        </p:nvGraphicFramePr>
        <p:xfrm>
          <a:off x="240465" y="970659"/>
          <a:ext cx="8457017" cy="4416204"/>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FGEP/CDI/FIM/COORD-FLAGRANCIA-I/001632/2026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419/2026/PUEBLA.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11:00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11:40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ROBO SIMPLE (DE HERRAMIENTA SIN VIOLENCIA)</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ALEJANDRO SÁNCHEZ SALINAS</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ALEJANDRO ZEPEDA SERRANO</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05 DE FEBRERO DE 2026, SIENDO APROXIMADAMENTE LAS 12:45 HORAS, REFIERE EL PETICIONARIO (ENCARGADO DE LA OBRA) QUE AL ENCONTRARSE EN SU DOMICILIO UBICADO EN CALLE EMILIANO ZAPATA, NÚMERO 18, COLONIA SAN CRISTÓBAL TULCINGO, PUEBLA, SE PERCATA QUE EL INVESTIGADO ENTRA A LA CONSTRUCCIÓN Y TOMA HERRAMIENTA INTENTANDO DARSE A LA FUGA, SIN EMBARGO ES DETENIDO CON EL APOYO DE LOS COMPAÑEROS ALBAÑILES  Y MOMENTOS DESPUÉS ARRIBAN LOS ELEMENTOS DE LA POLICÍA MUNICIPAL DE PUEBLA, MOTIVO POR LO QUE ES DETENIDO Y PUESTO A DISPOSICIÓN DE ESTA AUTORIDAD MINISTERIAL.</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LUCIO LEÓN MATA / MP. MARÍA CELERINA OREA MORENO.</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DEFENSA PÚBLICA SOLICITA SE ARRIBE A UN ACUERDO REPARATORIO CUMPLIMIENTO INMEDIATO ESTO ANTE EL CONSENTIMIENTO DE LA VÍCTIMA ASESOR JURÍDICO E IMPUTADO, JUEZ RESUELVE QUE SE DERIVE A LOS MECANISMOS DE FISCALÍA DEL ESTADO DE PUEBLA PARA SU APROBACIÓN.</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chemeClr val="tx1"/>
                          </a:solidFill>
                          <a:latin typeface="Lucida Fax" panose="02060602050505020204" pitchFamily="18" charset="0"/>
                        </a:rPr>
                        <a:t>N/A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DB7F3530-E839-2DF6-BD06-2662CB50DF2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3968942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697CE-99FB-95D1-FB6E-5DE3CD7423CB}"/>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7FF25F5B-360F-8F91-46C9-1A45E44FD093}"/>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A3B6757F-303C-3979-AFD8-7353CD255F31}"/>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3C9DC7D8-CF25-E2E2-0BEB-5B7270BE480F}"/>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E24E97A3-4FCA-AA24-F297-7A5EE07D408E}"/>
              </a:ext>
            </a:extLst>
          </p:cNvPr>
          <p:cNvGraphicFramePr/>
          <p:nvPr/>
        </p:nvGraphicFramePr>
        <p:xfrm>
          <a:off x="240465" y="970659"/>
          <a:ext cx="8457017" cy="4027584"/>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FGEP/CDI/FIM/COORD-FLAGRANCIA-I/001646/2026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426/2026/PUEBLA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08:30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08:49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ROBO AGRAVADO (A TRANSEÚNTE SIN VIOLENCIA MORAL)</a:t>
                      </a: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ALAN SAMUEL FAJARDO MONGE</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SAÚL PINTO JUÁREZ</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05 DE FEBRERO DE 2026, SIENDO APROXIMADAMENTE LAS 18:22 HORAS, REFIERE LA VICTIMA QUE AL ESTAR EN CALLE 18 SUR, ESQUINA CON AVENIDA 11 ORIENTE, COLONIA AZCARATE, PUEBLA, PUEBLA, CUANDO EL INVESTIGADO LO ABORDA Y MEDIANTE AMENAZAS LO DESAPODERA DE SU CELULAR, PARA DESPUÉS INTENTAR DARSE A LA FUGA, MOMENTO QUE IBAN PASANDO LOS ELEMENTOS DE LA MUNICIPAL DE PUEBLA, QUIENES LE DAN ALCANCE, MOTIVO POR LO QUE ES DETENIDO Y PUESTO A DISPOSICIÓN DE ESTA AUTORIDAD MINISTERIAL.</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MIGUEL ANGEL MARTIN HERNÁNDEZ JIMÉNEZ. / MP. MARIA LUISA AYOMETZI ANDRADE.</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A PETICION DE LOS INTERVINIENTES SE SUSPENDE EL PROCEDIMIENTO POR 30 DIAS, PARA REMITIR LA CARPETA DE INVESTIGACION A MECANISMOS ALTERNOS DE FISCALIA.</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chemeClr val="tx1"/>
                          </a:solidFill>
                          <a:latin typeface="Lucida Fax" panose="02060602050505020204" pitchFamily="18" charset="0"/>
                        </a:rPr>
                        <a:t>N/A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1115D4AB-942A-6241-DD50-EA59824DA60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3358598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5070-AA6D-7504-4DCA-CFC51E4BDC37}"/>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AC18B337-55FF-29A9-D820-4B636F964FDC}"/>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22AFFE51-0CD2-3A4D-5B13-7E6E57CC3CC4}"/>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B8A38866-B164-E2FD-0501-B631B29E0F92}"/>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9F8CA4D3-0A28-678D-3F84-534F37125396}"/>
              </a:ext>
            </a:extLst>
          </p:cNvPr>
          <p:cNvGraphicFramePr/>
          <p:nvPr/>
        </p:nvGraphicFramePr>
        <p:xfrm>
          <a:off x="240465" y="970659"/>
          <a:ext cx="8457017" cy="4125478"/>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FGEP/CDI/FIM/COORD-FLAGRANCIA-I/001702/2026.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434/2026/PUEBLA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11:00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13:40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ROBO A TRANSEÚNTE (AGRAVADO CON VIOLENCIA.)</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DENNIS JOSÉ CORNELIO MORENO</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ÁNGELA TATIANA CRUZ HERNÁNDEZ.</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06 DE FEBRERO DE 2026, A LAS 17:40 HORAS APROXIMADAMENTE, REFIEREN LOS REMITENTES QUE AL IR SOBRE RECORRIDO EN CALLE 20 SUR, ESQUINA CON AVENIDA 25 ORIENTE DE LA COLONIA BELLA VISTA, PUEBLA, OBSERVAN A UNA FEMENINA SOLICITANDO AYUDA, PORQUE MINUTOS ANTES UN MASCULINO QUE CORRÍA SOBRE LA MISMA CALLE, LA HABÍA DESPOJADO DE SUS PERTENENCIAS, POR LO QUE TRAS EL SEÑALAMIENTO SE LE DIO ALCANCE AL INDICIADO Y TRAS LA INSPECCIÓN CORRESPONDIENTE, SE LE INFORMO SERIA REMITIDO A ESTA AUTORIDAD MINISTERIAL. </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 LUIS FERNANDO CORNEJO HUESCA / MP. MARÍA  AZUNCIÓN GONZÁLEZ FERNÁNDEZ.</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SE CALIFICA DE LEGAL LA DETENCION, SE FORMULA IMPUTACION Y SE VINCULA A PROCESO</a:t>
                      </a: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solidFill>
                            <a:schemeClr val="tx1"/>
                          </a:solidFill>
                          <a:latin typeface="Lucida Fax" panose="02060602050505020204" pitchFamily="18" charset="0"/>
                        </a:rPr>
                        <a:t>PRISIÓN PREVENTIVA OFICIOSA, SE CONCEDEN DOS MESES PARA PLAZO DE CIERRE DE INVESTIGACIÓN COMPLEMENTARIA, FENECE EL 09 DE ABRIL DEL 2026. </a:t>
                      </a:r>
                      <a:endParaRPr lang="es-ES" sz="850" b="0" strike="noStrike" spc="-1" dirty="0">
                        <a:solidFill>
                          <a:schemeClr val="tx1"/>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2CC6CF36-AC8F-6745-FF50-074D3BAC6CD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996308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180D-9846-3E53-4A0E-9F641262AD6B}"/>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862A1CB0-03E1-D973-719F-759EF996B139}"/>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AE31A002-B25E-EF52-0400-26B95BA6AAF8}"/>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270E277E-F483-E566-5D64-6DDCB2B252EA}"/>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FFC05A99-77B4-8AC7-6323-CC64E6289381}"/>
              </a:ext>
            </a:extLst>
          </p:cNvPr>
          <p:cNvGraphicFramePr/>
          <p:nvPr/>
        </p:nvGraphicFramePr>
        <p:xfrm>
          <a:off x="240465" y="970659"/>
          <a:ext cx="8457017" cy="4416204"/>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FGEP/CD/FIM/COORD-FLAGRANCIA-I/001707/2026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a:ea typeface="Calibri"/>
                        </a:rPr>
                        <a:t>CP</a:t>
                      </a:r>
                      <a:r>
                        <a:rPr lang="es-ES" sz="850" b="0" strike="noStrike" kern="1200" spc="-1" dirty="0">
                          <a:solidFill>
                            <a:schemeClr val="tx1"/>
                          </a:solidFill>
                          <a:latin typeface="Lucida Fax" panose="02060602050505020204" pitchFamily="18" charset="0"/>
                          <a:ea typeface="+mn-ea"/>
                          <a:cs typeface="+mn-cs"/>
                        </a:rPr>
                        <a:t>: 431/2026/PUEBLA.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16:30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14:30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DAÑO EN PROPIEDAD AJENA DOLOSO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JOEL IVAN BARBARA CABRERA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SECRETARIA DE SEGURIDAD CIUDADANA </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06 DE FEBRERO DE 2026, SIENDO APROXIMADAMENTE 00:50 REFIEREN LOS SUSCRITOS SE ENCONTRABAN TRANSITANDO SOBRE CALLE VIOLETAS FRENTE AL NUMERO 205  ENTRE  EL BOULEVARD CAPITAN CARLOS CAMACHO ESPIRITU Y CALLE BUGAMBILIAS DE LA COLONIA LAS AVES, DE ESTA CIUDAD DE PUEBLA, CUANDO OBSERVAN A UN MASCULINO EL CUAL ESTABA ALTERANDO EL ORDEN, ACERCÁNDOSE Y AL INTERCAMBIAR PALABRAS EL AHORA INDICIADO AGARRA EL RADIO DEL SUSCRITO PARA DESPUÉS AVENTARLO AL SUELO Y CAUSAR DAÑO, INFORMÁNDOLE SERÁ PUESTO A DISPOSICIÓN DE ESTA AUTORIDAD MINISTERIAL </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LAURA TLATELPA RAMOS / MP. JUAN ÁNGEL MUÑOZ RAMÍREZ.</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AMBAS PARTES MANIFIESTAN SU VOLUNTAD DE ARRIBAR A UNA SALIDA ALTERNA Y TODA VEZ QUE SE REÚNEN LOS REQUISITOS DE PROCEDIBILIDAD Y OPORTUNIDAD JUEZ CONCEDE SUSPENSIÓN DE 30 DÍAS A EFECTO DE REMITIR A MECANISMOS ALTERNATIVOS DEL TRIBUNAL.</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endParaRPr lang="es-ES" sz="850" b="0" strike="noStrike" spc="-1" dirty="0">
                        <a:solidFill>
                          <a:schemeClr val="tx1"/>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4AE925E7-8782-D470-4818-FA72767E530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3471426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85FB-8913-A872-D960-DD35CE324080}"/>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37AF1368-B582-1546-C5D7-051E7AEA71AF}"/>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5C122D97-B0E8-D92D-D9B8-863073FA528B}"/>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CC40B17F-859D-2C4E-392E-065A676253ED}"/>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42A38B1B-3647-B0E2-D574-D7F2DB749933}"/>
              </a:ext>
            </a:extLst>
          </p:cNvPr>
          <p:cNvGraphicFramePr/>
          <p:nvPr/>
        </p:nvGraphicFramePr>
        <p:xfrm>
          <a:off x="240465" y="970659"/>
          <a:ext cx="8457017" cy="4221894"/>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FGEP/CDI/FIM/COORD-FLAGRANCIA-I/001705/2026.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435/2026/PUEBLA</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10:30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12:15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DAÑO EN PROPIEDAD AJENA A TÍTULO DE CULPA AGRAVADO.</a:t>
                      </a: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kern="1200" dirty="0">
                          <a:solidFill>
                            <a:schemeClr val="tx1"/>
                          </a:solidFill>
                          <a:effectLst/>
                          <a:latin typeface="Lucida Fax" panose="02060602050505020204" pitchFamily="18" charset="0"/>
                          <a:ea typeface="+mn-ea"/>
                          <a:cs typeface="+mn-cs"/>
                        </a:rPr>
                        <a:t>BRANDON GIOVANNY MARTÍNEZ DE LA LUZ</a:t>
                      </a:r>
                      <a:endParaRPr lang="es-ES" sz="850" kern="1200" dirty="0">
                        <a:solidFill>
                          <a:schemeClr val="tx1"/>
                        </a:solidFill>
                        <a:effectLst/>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ERICK SANTIAGO LARIOS MARTÍNEZ. </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06 DE FEBRERO DE 2026, A LAS 20:00 HORAS, LOS REMITENTES REFIEREN QUE RECIBIERON UN REPORTE DE UN PERCANCE VIAL TIPO COLISIÓN EN INMEDIACIONES DE AVENIDA 19 PONIENTE Y CALLE 23 SUR, COLONIA RIVERA DE SANTIAGO, PUEBLA, AL ARRIBAR AL LUGAR DE LOS HECHOS, OBSERVAN UNA COLISIÓN ENTRE DOS VEHÍCULOS, MOMENTO EN QUE UN MASCULINO SEÑALA AL CONDUCTOR DEL VEHÍCULO FORD FUSIÓN COMO EL RESPONSABLE DEL HECHO, Y TRAS EL SEÑALAMIENTO Y REALIZAR LA MECÁNICA DE HECHOS, SE LE INFORMO AL AHORA INDICIADO, QUE SERÍA REMITIDO ANTE A ESTA AUTORIDAD MINISTERIAL. </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 BET NIMRA PEREZ  HERNANDEZ / MP. </a:t>
                      </a:r>
                      <a:r>
                        <a:rPr lang="es-MX" sz="850" b="0" strike="noStrike" spc="-1" dirty="0">
                          <a:latin typeface="Lucida Fax" panose="02060602050505020204" pitchFamily="18" charset="0"/>
                        </a:rPr>
                        <a:t>JUAN ÁNGEL MUÑOZ RAMÍREZ</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DE MANERA CONJUNTA VÍCTIMA Y SU ASESOR JURÍDICO CON DEFENSA SOLICITAN SUSPENDER PROCEDIMIENTO POR 30 DÍAS A FIN DE QUE LAS PARTES AARRIBEN A UNA SALIDA ALTERNA </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chemeClr val="tx1"/>
                          </a:solidFill>
                          <a:latin typeface="Lucida Fax" panose="02060602050505020204" pitchFamily="18" charset="0"/>
                        </a:rPr>
                        <a:t>N/A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3EB012F8-BEA4-D895-A2C1-1F0796343A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1073892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04BEB-CA84-18CC-6437-4938923DD04D}"/>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A8C0CA2C-C5E6-A8EC-1E22-5F1EBA4812DA}"/>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{{AGENCY_NAME}}</a:t>
            </a:r>
            <a:endParaRPr lang="es-ES" sz="954" spc="-1" dirty="0">
              <a:solidFill>
                <a:prstClr val="black"/>
              </a:solidFill>
            </a:endParaRPr>
          </a:p>
        </p:txBody>
      </p:sp>
      <p:pic>
        <p:nvPicPr>
          <p:cNvPr id="66" name="Imagen 7">
            <a:extLst>
              <a:ext uri="{FF2B5EF4-FFF2-40B4-BE49-F238E27FC236}">
                <a16:creationId xmlns:a16="http://schemas.microsoft.com/office/drawing/2014/main" id="{220F5254-3C32-8A06-F3B4-62B141548038}"/>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BC2A8626-D810-729C-578B-3DEFB91A4FE2}"/>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{{REPORT_TITLE}}</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B6B9B9A3-AC45-2217-920F-536EF2F68D27}"/>
              </a:ext>
            </a:extLst>
          </p:cNvPr>
          <p:cNvGraphicFramePr/>
          <p:nvPr/>
        </p:nvGraphicFramePr>
        <p:xfrm>
          <a:off x="240465" y="970659"/>
          <a:ext cx="8457017" cy="3932311"/>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kern="1200" spc="-1" dirty="0">
                          <a:solidFill>
                            <a:schemeClr val="tx1"/>
                          </a:solidFill>
                          <a:latin typeface="Lucida Fax" panose="02060602050505020204" pitchFamily="18" charset="0"/>
                          <a:ea typeface="+mn-ea"/>
                          <a:cs typeface="+mn-cs"/>
                        </a:rPr>
                        <a:t>{{CDI}}</a:t>
                      </a:r>
                      <a:endParaRPr lang="es-ES"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{{FECHA}}</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{{HORA_1}}</a:t>
                      </a:r>
                    </a:p>
                    <a:p>
                      <a:pPr algn="just">
                        <a:lnSpc>
                          <a:spcPct val="150000"/>
                        </a:lnSpc>
                        <a:tabLst>
                          <a:tab pos="0" algn="l"/>
                        </a:tabLst>
                      </a:pPr>
                      <a:r>
                        <a:rPr lang="es-MX" sz="850" b="0" strike="noStrike" spc="-1" dirty="0">
                          <a:solidFill>
                            <a:srgbClr val="000000"/>
                          </a:solidFill>
                          <a:latin typeface="Lucida Fax" panose="02060602050505020204" pitchFamily="18" charset="0"/>
                        </a:rPr>
                        <a:t>{{HORA_2}}</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{{DELITO}}</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{{IMPUTADO}}</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{{OFENDIDO}}</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{{HECHO}}</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{{TIPO_AUDIENCIA}}</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{{JUEZ}}</a:t>
                      </a:r>
                      <a:r>
                        <a:rPr lang="es-MX" sz="850" b="0" strike="noStrike" spc="-1" dirty="0">
                          <a:latin typeface="Lucida Fax" panose="02060602050505020204" pitchFamily="18" charset="0"/>
                        </a:rPr>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{{RESULTADO}}</a:t>
                      </a: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solidFill>
                            <a:schemeClr val="tx1"/>
                          </a:solidFill>
                          <a:latin typeface="Lucida Fax" panose="02060602050505020204" pitchFamily="18" charset="0"/>
                        </a:rPr>
                        <a:t>{{MEDIDA_CAUTELAR}}</a:t>
                      </a:r>
                      <a:endParaRPr lang="es-ES" sz="850" b="0" strike="noStrike" spc="-1" dirty="0">
                        <a:solidFill>
                          <a:schemeClr val="tx1"/>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{{OBSERVACIONES}}</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71FCBE32-1B33-F527-1A89-EE49A9B640D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426859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A6692-4B05-0A28-40C0-3A0C337739B3}"/>
            </a:ext>
          </a:extLst>
        </p:cNvPr>
        <p:cNvGrpSpPr/>
        <p:nvPr/>
      </p:nvGrpSpPr>
      <p:grpSpPr>
        <a:xfrm>
          <a:off x="0" y="0"/>
          <a:ext cx="0" cy="0"/>
          <a:chOff x="0" y="0"/>
          <a:chExt cx="0" cy="0"/>
        </a:xfrm>
      </p:grpSpPr>
      <p:sp>
        <p:nvSpPr>
          <p:cNvPr id="65" name="CustomShape 1">
            <a:extLst>
              <a:ext uri="{FF2B5EF4-FFF2-40B4-BE49-F238E27FC236}">
                <a16:creationId xmlns:a16="http://schemas.microsoft.com/office/drawing/2014/main" id="{863100BC-7EB5-DFED-3C94-2A43715A1D54}"/>
              </a:ext>
            </a:extLst>
          </p:cNvPr>
          <p:cNvSpPr/>
          <p:nvPr/>
        </p:nvSpPr>
        <p:spPr>
          <a:xfrm>
            <a:off x="2516836" y="41474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954" b="1" spc="-1" dirty="0">
                <a:solidFill>
                  <a:srgbClr val="A6A6A6"/>
                </a:solidFill>
                <a:latin typeface="Lucida Fax"/>
                <a:ea typeface="Calibri"/>
              </a:rPr>
              <a:t>FISCALIA DE INVESTIGACIÓN METROPOLITANA</a:t>
            </a:r>
            <a:endParaRPr lang="es-ES" sz="954" spc="-1" dirty="0">
              <a:solidFill>
                <a:prstClr val="black"/>
              </a:solidFill>
            </a:endParaRPr>
          </a:p>
        </p:txBody>
      </p:sp>
      <p:pic>
        <p:nvPicPr>
          <p:cNvPr id="66" name="Imagen 7">
            <a:extLst>
              <a:ext uri="{FF2B5EF4-FFF2-40B4-BE49-F238E27FC236}">
                <a16:creationId xmlns:a16="http://schemas.microsoft.com/office/drawing/2014/main" id="{01251C10-1550-5C3C-2487-CE43AA16042B}"/>
              </a:ext>
            </a:extLst>
          </p:cNvPr>
          <p:cNvPicPr/>
          <p:nvPr/>
        </p:nvPicPr>
        <p:blipFill>
          <a:blip r:embed="rId3"/>
          <a:srcRect l="34124" t="9793" r="33383" b="9458"/>
          <a:stretch/>
        </p:blipFill>
        <p:spPr>
          <a:xfrm>
            <a:off x="486103" y="156367"/>
            <a:ext cx="307492" cy="489951"/>
          </a:xfrm>
          <a:prstGeom prst="rect">
            <a:avLst/>
          </a:prstGeom>
          <a:ln w="0">
            <a:noFill/>
          </a:ln>
        </p:spPr>
      </p:pic>
      <p:sp>
        <p:nvSpPr>
          <p:cNvPr id="67" name="CustomShape 2">
            <a:extLst>
              <a:ext uri="{FF2B5EF4-FFF2-40B4-BE49-F238E27FC236}">
                <a16:creationId xmlns:a16="http://schemas.microsoft.com/office/drawing/2014/main" id="{8FD51255-B2B4-9C5B-F847-53ADA55C7CD5}"/>
              </a:ext>
            </a:extLst>
          </p:cNvPr>
          <p:cNvSpPr/>
          <p:nvPr/>
        </p:nvSpPr>
        <p:spPr>
          <a:xfrm>
            <a:off x="1829602" y="260363"/>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r>
              <a:rPr lang="es-MX" sz="1002" b="1" spc="-1" dirty="0">
                <a:solidFill>
                  <a:srgbClr val="A6A6A6"/>
                </a:solidFill>
                <a:latin typeface="Lucida Fax"/>
                <a:ea typeface="Calibri"/>
              </a:rPr>
              <a:t> </a:t>
            </a:r>
            <a:r>
              <a:rPr lang="es-MX" sz="954" b="1" spc="-1" dirty="0">
                <a:solidFill>
                  <a:srgbClr val="A6A6A6"/>
                </a:solidFill>
                <a:latin typeface="Lucida Fax"/>
                <a:ea typeface="Calibri"/>
              </a:rPr>
              <a:t>REPORTE DE PARTICIPACIÓN MINISTERIAL EN AUDIENCIA JUDICIAL</a:t>
            </a:r>
            <a:endParaRPr lang="es-ES" sz="954" spc="-1" dirty="0">
              <a:solidFill>
                <a:prstClr val="black"/>
              </a:solidFill>
            </a:endParaRPr>
          </a:p>
        </p:txBody>
      </p:sp>
      <p:graphicFrame>
        <p:nvGraphicFramePr>
          <p:cNvPr id="7" name="Table 3">
            <a:extLst>
              <a:ext uri="{FF2B5EF4-FFF2-40B4-BE49-F238E27FC236}">
                <a16:creationId xmlns:a16="http://schemas.microsoft.com/office/drawing/2014/main" id="{A4230645-3010-A93E-1C69-A842C46609BC}"/>
              </a:ext>
            </a:extLst>
          </p:cNvPr>
          <p:cNvGraphicFramePr/>
          <p:nvPr/>
        </p:nvGraphicFramePr>
        <p:xfrm>
          <a:off x="240465" y="970659"/>
          <a:ext cx="8457017" cy="4514098"/>
        </p:xfrm>
        <a:graphic>
          <a:graphicData uri="http://schemas.openxmlformats.org/drawingml/2006/table">
            <a:tbl>
              <a:tblPr/>
              <a:tblGrid>
                <a:gridCol w="1428079">
                  <a:extLst>
                    <a:ext uri="{9D8B030D-6E8A-4147-A177-3AD203B41FA5}">
                      <a16:colId xmlns:a16="http://schemas.microsoft.com/office/drawing/2014/main" val="20000"/>
                    </a:ext>
                  </a:extLst>
                </a:gridCol>
                <a:gridCol w="3624684">
                  <a:extLst>
                    <a:ext uri="{9D8B030D-6E8A-4147-A177-3AD203B41FA5}">
                      <a16:colId xmlns:a16="http://schemas.microsoft.com/office/drawing/2014/main" val="20001"/>
                    </a:ext>
                  </a:extLst>
                </a:gridCol>
                <a:gridCol w="3404254">
                  <a:extLst>
                    <a:ext uri="{9D8B030D-6E8A-4147-A177-3AD203B41FA5}">
                      <a16:colId xmlns:a16="http://schemas.microsoft.com/office/drawing/2014/main" val="20002"/>
                    </a:ext>
                  </a:extLst>
                </a:gridCol>
              </a:tblGrid>
              <a:tr h="253462">
                <a:tc>
                  <a:txBody>
                    <a:bodyPr/>
                    <a:lstStyle/>
                    <a:p>
                      <a:pPr algn="just">
                        <a:lnSpc>
                          <a:spcPct val="150000"/>
                        </a:lnSpc>
                      </a:pPr>
                      <a:r>
                        <a:rPr lang="es-MX" sz="850" b="1" strike="noStrike" spc="-1" dirty="0">
                          <a:solidFill>
                            <a:srgbClr val="000000"/>
                          </a:solidFill>
                          <a:latin typeface="Lucida Fax"/>
                          <a:ea typeface="Calibri"/>
                        </a:rPr>
                        <a:t>EXPEDIENTES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pt-BR" sz="850" b="0" strike="noStrike" spc="-1" dirty="0">
                          <a:latin typeface="Lucida Fax" panose="02060602050505020204" pitchFamily="18" charset="0"/>
                        </a:rPr>
                        <a:t>FGEP/CDI/FIM/COORD-FLAGRANCIA-I/001643/2026.</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kern="1200" spc="-1" dirty="0">
                          <a:solidFill>
                            <a:schemeClr val="tx1"/>
                          </a:solidFill>
                          <a:latin typeface="Lucida Fax" panose="02060602050505020204" pitchFamily="18" charset="0"/>
                          <a:ea typeface="+mn-ea"/>
                          <a:cs typeface="+mn-cs"/>
                        </a:rPr>
                        <a:t>CP</a:t>
                      </a:r>
                      <a:r>
                        <a:rPr lang="es-ES" sz="850" b="0" strike="noStrike" kern="1200" spc="-1" dirty="0">
                          <a:solidFill>
                            <a:schemeClr val="tx1"/>
                          </a:solidFill>
                          <a:latin typeface="Lucida Fax" panose="02060602050505020204" pitchFamily="18" charset="0"/>
                          <a:ea typeface="+mn-ea"/>
                          <a:cs typeface="+mn-cs"/>
                        </a:rPr>
                        <a:t>: 422/2026/PUEBLA  </a:t>
                      </a:r>
                      <a:endParaRPr lang="es-MX" sz="850" b="0" strike="noStrike" kern="1200" spc="-1" dirty="0">
                        <a:solidFill>
                          <a:schemeClr val="tx1"/>
                        </a:solidFill>
                        <a:latin typeface="Lucida Fax" panose="02060602050505020204" pitchFamily="18" charset="0"/>
                        <a:ea typeface="+mn-ea"/>
                        <a:cs typeface="+mn-cs"/>
                      </a:endParaRP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0161">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12:00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12:27 HORAS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3462">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latin typeface="Lucida Fax" panose="02060602050505020204" pitchFamily="18" charset="0"/>
                        </a:rPr>
                        <a:t>ROBO AGRAVADO (A TRANSEÚNTE CON VIOLENCIA)</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3462">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kern="1200" dirty="0">
                          <a:solidFill>
                            <a:schemeClr val="tx1"/>
                          </a:solidFill>
                          <a:effectLst/>
                          <a:latin typeface="Lucida Fax" panose="02060602050505020204" pitchFamily="18" charset="0"/>
                          <a:ea typeface="+mn-ea"/>
                          <a:cs typeface="+mn-cs"/>
                        </a:rPr>
                        <a:t>CESAR ANTONIO REYES SÁNCHEZ</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3"/>
                  </a:ext>
                </a:extLst>
              </a:tr>
              <a:tr h="253462">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JOSÉ CARLOS PÉREZ SÁNCHEZ</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821830">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baseline="0" dirty="0">
                          <a:latin typeface="Lucida Fax" panose="02060602050505020204" pitchFamily="18" charset="0"/>
                        </a:rPr>
                        <a:t>EL DÍA 05 DE FEBRERO DE 2026, SIENDO APROXIMADAMENTE LAS  16:35 HORAS, REFIERE LA VICTIMA  QUE SE ENCONTRABA  EN LA CALLE VIOLETAS, NÚMERO 109, DE LA COLONIA JARDINES DE LA RESURRECCIÓN SECCIÓN 2, DE PUEBLA, CUANDO EL INVESTIGADO LO ABORDA Y LE DA UN GOLPE  EN LA CARA PROVOCANDO QUE SE CAYERA AL PISO, SIENDO EN ESE MOMENTO QUE EMPIEZA A GOLPEARLO  Y  A REGISTRARLO SACANDO DE SU BOLSA DELANTERA DERECHA DEL PANTALÓN UN TELÉFONO CELULAR DE Y UN BILLETE DE $500 PESOS, SIN EMBARGO LOS VECINOS AL VER LO QUE SUCEDÍA LO AUXILIAN Y LO ASEGURAN, MOMENTOS DESPUÉS ARRIBAN LOS ELEMENTOS DE LA MUNICIPAL DE PUEBLA, MOTIVO POR LO QUE ES DETENIDO Y PUESTO A DISPOSICIÓN DE ESTA AUTORIDAD MINISTERIAL.</a:t>
                      </a:r>
                      <a:endParaRPr lang="es-ES" sz="850" b="0" strike="noStrike" spc="-1" baseline="0"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283">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CONTROL DE DETENCION</a:t>
                      </a: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3462">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 LUCIO LEON MATA / MP. OMAR MEMEHUA GARCIA.</a:t>
                      </a:r>
                    </a:p>
                  </a:txBody>
                  <a:tcPr marL="65281" marR="65281" marT="43635" marB="4363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35528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CALIFICA DE LEGAL DETENCION Y RETENCIONSE FORMULA IMPUTACION NO DECLARA.SE VINCULA A PROCESO</a:t>
                      </a:r>
                      <a:endParaRPr lang="es-ES" sz="850" b="0" strike="noStrike" spc="-1" dirty="0">
                        <a:solidFill>
                          <a:srgbClr val="FF0000"/>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53462">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5281" marR="65281" marT="43635" marB="4363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solidFill>
                            <a:schemeClr val="tx1"/>
                          </a:solidFill>
                          <a:latin typeface="Lucida Fax" panose="02060602050505020204" pitchFamily="18" charset="0"/>
                        </a:rPr>
                        <a:t>FIRMA PERIODICA QUINCENAL, NO ACERCARSE A LA VICTIMA, GARANTIA ECONOMICA DE $ 5,000.00 M/NPLAZO DE CIERRE DE INVESTIGACION 2 MESES, FENECE EL 09/04/2026</a:t>
                      </a:r>
                      <a:endParaRPr lang="es-ES" sz="850" b="0" strike="noStrike" spc="-1" dirty="0">
                        <a:solidFill>
                          <a:schemeClr val="tx1"/>
                        </a:solidFill>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3462">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5281" marR="65281" marT="43635" marB="4363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PRESENCIAL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2" name="Imagen 1" descr="Fiscalia-logo">
            <a:extLst>
              <a:ext uri="{FF2B5EF4-FFF2-40B4-BE49-F238E27FC236}">
                <a16:creationId xmlns:a16="http://schemas.microsoft.com/office/drawing/2014/main" id="{C0F00087-F375-AA57-8CD3-9B3CA2E630D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0389" y="228655"/>
            <a:ext cx="1559789" cy="565746"/>
          </a:xfrm>
          <a:prstGeom prst="rect">
            <a:avLst/>
          </a:prstGeom>
          <a:noFill/>
          <a:ln>
            <a:noFill/>
          </a:ln>
        </p:spPr>
      </p:pic>
    </p:spTree>
    <p:extLst>
      <p:ext uri="{BB962C8B-B14F-4D97-AF65-F5344CB8AC3E}">
        <p14:creationId xmlns:p14="http://schemas.microsoft.com/office/powerpoint/2010/main" val="318258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CustomShape 1"/>
          <p:cNvSpPr/>
          <p:nvPr/>
        </p:nvSpPr>
        <p:spPr>
          <a:xfrm>
            <a:off x="2505960" y="410400"/>
            <a:ext cx="3223080" cy="242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s-MX" sz="1000" b="1" spc="-1" dirty="0">
                <a:solidFill>
                  <a:srgbClr val="A6A6A6"/>
                </a:solidFill>
                <a:latin typeface="Lucida Fax"/>
                <a:ea typeface="Calibri"/>
              </a:rPr>
              <a:t>FISCALIA DE INVESTIGACIÓN METROPOLITANA</a:t>
            </a:r>
            <a:endParaRPr lang="es-ES" sz="1000" spc="-1" dirty="0">
              <a:solidFill>
                <a:prstClr val="black"/>
              </a:solidFill>
            </a:endParaRPr>
          </a:p>
        </p:txBody>
      </p:sp>
      <p:pic>
        <p:nvPicPr>
          <p:cNvPr id="66" name="Imagen 7"/>
          <p:cNvPicPr/>
          <p:nvPr/>
        </p:nvPicPr>
        <p:blipFill>
          <a:blip r:embed="rId3"/>
          <a:srcRect l="34124" t="9793" r="33383" b="9458"/>
          <a:stretch/>
        </p:blipFill>
        <p:spPr>
          <a:xfrm>
            <a:off x="290880" y="115560"/>
            <a:ext cx="514440" cy="552960"/>
          </a:xfrm>
          <a:prstGeom prst="rect">
            <a:avLst/>
          </a:prstGeom>
          <a:ln w="0">
            <a:noFill/>
          </a:ln>
        </p:spPr>
      </p:pic>
      <p:sp>
        <p:nvSpPr>
          <p:cNvPr id="67" name="CustomShape 2"/>
          <p:cNvSpPr/>
          <p:nvPr/>
        </p:nvSpPr>
        <p:spPr>
          <a:xfrm>
            <a:off x="1840320" y="210240"/>
            <a:ext cx="4555080" cy="250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s-MX" sz="1050" b="1" spc="-1" dirty="0">
                <a:solidFill>
                  <a:srgbClr val="A6A6A6"/>
                </a:solidFill>
                <a:latin typeface="Lucida Fax"/>
                <a:ea typeface="Calibri"/>
              </a:rPr>
              <a:t> </a:t>
            </a:r>
            <a:r>
              <a:rPr lang="es-MX" sz="1000" b="1" spc="-1" dirty="0">
                <a:solidFill>
                  <a:srgbClr val="A6A6A6"/>
                </a:solidFill>
                <a:latin typeface="Lucida Fax"/>
                <a:ea typeface="Calibri"/>
              </a:rPr>
              <a:t>REPORTE DE PARTICIPACIÓN MINISTERIAL EN AUDIENCIA JUDICIAL</a:t>
            </a:r>
            <a:endParaRPr lang="es-ES" sz="1000" spc="-1" dirty="0">
              <a:solidFill>
                <a:prstClr val="black"/>
              </a:solidFill>
            </a:endParaRPr>
          </a:p>
        </p:txBody>
      </p:sp>
      <p:pic>
        <p:nvPicPr>
          <p:cNvPr id="68" name="Imagen 10"/>
          <p:cNvPicPr/>
          <p:nvPr/>
        </p:nvPicPr>
        <p:blipFill>
          <a:blip r:embed="rId4"/>
          <a:srcRect t="7887" b="7680"/>
          <a:stretch/>
        </p:blipFill>
        <p:spPr>
          <a:xfrm>
            <a:off x="7413120" y="115560"/>
            <a:ext cx="1578600" cy="588600"/>
          </a:xfrm>
          <a:prstGeom prst="rect">
            <a:avLst/>
          </a:prstGeom>
          <a:ln w="0">
            <a:noFill/>
          </a:ln>
        </p:spPr>
      </p:pic>
      <p:graphicFrame>
        <p:nvGraphicFramePr>
          <p:cNvPr id="9" name="Table 3"/>
          <p:cNvGraphicFramePr/>
          <p:nvPr/>
        </p:nvGraphicFramePr>
        <p:xfrm>
          <a:off x="141455" y="904320"/>
          <a:ext cx="8861090" cy="4004723"/>
        </p:xfrm>
        <a:graphic>
          <a:graphicData uri="http://schemas.openxmlformats.org/drawingml/2006/table">
            <a:tbl>
              <a:tblPr/>
              <a:tblGrid>
                <a:gridCol w="1400266">
                  <a:extLst>
                    <a:ext uri="{9D8B030D-6E8A-4147-A177-3AD203B41FA5}">
                      <a16:colId xmlns:a16="http://schemas.microsoft.com/office/drawing/2014/main" val="20000"/>
                    </a:ext>
                  </a:extLst>
                </a:gridCol>
                <a:gridCol w="3893916">
                  <a:extLst>
                    <a:ext uri="{9D8B030D-6E8A-4147-A177-3AD203B41FA5}">
                      <a16:colId xmlns:a16="http://schemas.microsoft.com/office/drawing/2014/main" val="20001"/>
                    </a:ext>
                  </a:extLst>
                </a:gridCol>
                <a:gridCol w="3566908">
                  <a:extLst>
                    <a:ext uri="{9D8B030D-6E8A-4147-A177-3AD203B41FA5}">
                      <a16:colId xmlns:a16="http://schemas.microsoft.com/office/drawing/2014/main" val="20002"/>
                    </a:ext>
                  </a:extLst>
                </a:gridCol>
              </a:tblGrid>
              <a:tr h="259276">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EXPEDIENTES </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s-MX" sz="900" b="1" kern="1200" dirty="0">
                          <a:solidFill>
                            <a:srgbClr val="FF0000"/>
                          </a:solidFill>
                          <a:effectLst/>
                          <a:latin typeface="Lucida Fax" panose="02060602050505020204" pitchFamily="18" charset="0"/>
                          <a:ea typeface="+mn-ea"/>
                          <a:cs typeface="+mn-cs"/>
                        </a:rPr>
                        <a:t>CDI FGE/CDI/FIM/SACHOLULA-I/010038/2022</a:t>
                      </a:r>
                      <a:endParaRPr lang="es-MX" sz="900" kern="1200" dirty="0">
                        <a:solidFill>
                          <a:srgbClr val="FF0000"/>
                        </a:solidFill>
                        <a:effectLst/>
                        <a:latin typeface="Lucida Fax" panose="02060602050505020204" pitchFamily="18" charset="0"/>
                        <a:ea typeface="+mn-ea"/>
                        <a:cs typeface="+mn-cs"/>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00000"/>
                        </a:lnSpc>
                        <a:tabLst>
                          <a:tab pos="0" algn="l"/>
                        </a:tabLst>
                      </a:pPr>
                      <a:r>
                        <a:rPr lang="es-MX" sz="900" b="1" strike="noStrike" spc="-1" dirty="0">
                          <a:solidFill>
                            <a:srgbClr val="FF0000"/>
                          </a:solidFill>
                          <a:latin typeface="Lucida Fax" panose="02060602050505020204" pitchFamily="18" charset="0"/>
                          <a:ea typeface="Calibri"/>
                        </a:rPr>
                        <a:t>CP:</a:t>
                      </a:r>
                      <a:r>
                        <a:rPr lang="es-MX" sz="900" b="1" strike="noStrike" spc="-1" baseline="0" dirty="0">
                          <a:solidFill>
                            <a:srgbClr val="FF0000"/>
                          </a:solidFill>
                          <a:latin typeface="Lucida Fax" panose="02060602050505020204" pitchFamily="18" charset="0"/>
                          <a:ea typeface="Calibri"/>
                        </a:rPr>
                        <a:t> 47/2025/CJP/SACHOLULA</a:t>
                      </a:r>
                      <a:endParaRPr lang="es-ES" sz="900" b="1" strike="noStrike" spc="-1" dirty="0">
                        <a:solidFill>
                          <a:srgbClr val="FF0000"/>
                        </a:solidFill>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303081">
                <a:tc>
                  <a:txBody>
                    <a:bodyPr/>
                    <a:lstStyle/>
                    <a:p>
                      <a:pPr algn="just">
                        <a:lnSpc>
                          <a:spcPct val="107000"/>
                        </a:lnSpc>
                        <a:tabLst>
                          <a:tab pos="0" algn="l"/>
                        </a:tabLst>
                      </a:pPr>
                      <a:r>
                        <a:rPr lang="es-MX" sz="850" b="1" strike="noStrike" spc="-1" dirty="0">
                          <a:solidFill>
                            <a:srgbClr val="000000"/>
                          </a:solidFill>
                          <a:latin typeface="Lucida Fax" panose="02060602050505020204" pitchFamily="18" charset="0"/>
                          <a:ea typeface="Calibri"/>
                        </a:rPr>
                        <a:t>FECHA Y HORA DE INICIO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MX" sz="900" b="0" strike="noStrike" spc="-1" dirty="0">
                          <a:solidFill>
                            <a:srgbClr val="000000"/>
                          </a:solidFill>
                          <a:latin typeface="Lucida Fax" panose="02060602050505020204" pitchFamily="18" charset="0"/>
                          <a:ea typeface="Calibri"/>
                        </a:rPr>
                        <a:t>FECHA 09 DE FEBRERO DEL 2025                                                       HORA PROGRAMADA: 14:30  HORAS.</a:t>
                      </a:r>
                    </a:p>
                    <a:p>
                      <a:pPr algn="just">
                        <a:lnSpc>
                          <a:spcPct val="100000"/>
                        </a:lnSpc>
                        <a:tabLst>
                          <a:tab pos="0" algn="l"/>
                        </a:tabLst>
                      </a:pPr>
                      <a:r>
                        <a:rPr lang="es-ES" sz="900" b="0" strike="noStrike" spc="-1" dirty="0">
                          <a:latin typeface="Lucida Fax" panose="02060602050505020204" pitchFamily="18" charset="0"/>
                        </a:rPr>
                        <a:t>                                                                                                          HORA DE INICIO:         14:38 HORAS                                                                    </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1"/>
                  </a:ext>
                </a:extLst>
              </a:tr>
              <a:tr h="18734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DELITO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ES" sz="900" b="0" strike="noStrike" spc="-1" dirty="0">
                          <a:solidFill>
                            <a:srgbClr val="FF0000"/>
                          </a:solidFill>
                          <a:latin typeface="Lucida Fax" panose="02060602050505020204" pitchFamily="18" charset="0"/>
                        </a:rPr>
                        <a:t>AMENAZAS</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18734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IMPUTADO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MX" sz="900" b="0" strike="noStrike" kern="1200" spc="-1" dirty="0">
                          <a:solidFill>
                            <a:schemeClr val="tx1"/>
                          </a:solidFill>
                          <a:effectLst/>
                          <a:latin typeface="Lucida Fax" panose="02060602050505020204" pitchFamily="18" charset="0"/>
                          <a:ea typeface="+mn-ea"/>
                          <a:cs typeface="+mn-cs"/>
                        </a:rPr>
                        <a:t>JOSE MANUEL MORENO BERBER </a:t>
                      </a:r>
                      <a:endParaRPr lang="es-ES" sz="90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3"/>
                  </a:ext>
                </a:extLst>
              </a:tr>
              <a:tr h="18734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OFENDIDO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tab pos="0" algn="l"/>
                        </a:tabLst>
                        <a:defRPr/>
                      </a:pPr>
                      <a:r>
                        <a:rPr lang="es-ES" sz="900" b="0" strike="noStrike" spc="-1" dirty="0">
                          <a:latin typeface="Lucida Fax" panose="02060602050505020204" pitchFamily="18" charset="0"/>
                        </a:rPr>
                        <a:t>Q.R.I </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4"/>
                  </a:ext>
                </a:extLst>
              </a:tr>
              <a:tr h="944894">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HECHO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tab pos="0" algn="l"/>
                        </a:tabLst>
                        <a:defRPr/>
                      </a:pPr>
                      <a:r>
                        <a:rPr lang="es-MX" sz="900" kern="1200" dirty="0">
                          <a:solidFill>
                            <a:schemeClr val="tx1"/>
                          </a:solidFill>
                          <a:effectLst/>
                          <a:latin typeface="Lucida Fax" panose="02060602050505020204" pitchFamily="18" charset="0"/>
                          <a:ea typeface="+mn-ea"/>
                          <a:cs typeface="+mn-cs"/>
                        </a:rPr>
                        <a:t>REFIERE QUE CON FECHA 21 DE ENERO DEL 2022 AL LLEVAR SU VEHICULO A REVISION A VEHICULOS EUROPEOS DE CALIDAD, LOPS ENCRAGADOS DE DICHO CENTRO DE SERVICIO LE INDICARON QUE EN LA PARTE BAJA DE SU VEHICULO HABIAN ENCONTRADO UN DISPISITIVO GPS DE NAVEGACION Y LOCALIZACION POR LO QUIE SIENTE AMENAZADO YA QUE CON ESE ARTEFACTO SE PUEDEN SABER TODAS Y CADA UNA DE SUS ACTIVIDADES COTIDIANAS </a:t>
                      </a:r>
                      <a:endParaRPr kumimoji="0" lang="es-MX" sz="900" b="0" i="0" u="none" strike="noStrike" kern="1200" cap="none" spc="-1" normalizeH="0" baseline="0" noProof="0" dirty="0">
                        <a:ln>
                          <a:noFill/>
                        </a:ln>
                        <a:solidFill>
                          <a:prstClr val="black"/>
                        </a:solidFill>
                        <a:effectLst/>
                        <a:uLnTx/>
                        <a:uFillTx/>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512685">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TIPO DE AUDIENCIA</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pPr>
                      <a:r>
                        <a:rPr lang="es-ES" sz="900" b="0" strike="noStrike" spc="-1" dirty="0">
                          <a:solidFill>
                            <a:schemeClr val="tx1"/>
                          </a:solidFill>
                          <a:latin typeface="Lucida Fax" panose="02060602050505020204" pitchFamily="18" charset="0"/>
                        </a:rPr>
                        <a:t>CONTROL JUDICIAL PREVIO  </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76188">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JUEZ</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ES" sz="900" b="0" strike="noStrike" spc="-1" dirty="0">
                          <a:solidFill>
                            <a:schemeClr val="tx1"/>
                          </a:solidFill>
                          <a:latin typeface="Lucida Fax" panose="02060602050505020204" pitchFamily="18" charset="0"/>
                        </a:rPr>
                        <a:t>ABOG.  DAVID RODRIGUEZ GONZALE                                  AGENTE DEL MINISTERIO PUBLICO:  JORGE TORRES AGUILAR </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29716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RESULTADO</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ES" sz="900" b="1" strike="noStrike" spc="-1" dirty="0">
                          <a:solidFill>
                            <a:srgbClr val="FF0000"/>
                          </a:solidFill>
                          <a:latin typeface="Lucida Fax" panose="02060602050505020204" pitchFamily="18" charset="0"/>
                        </a:rPr>
                        <a:t>SE DEJA SIN EFECTO LA DETERMINACION DEL NO EJERCICIO DE LA ACCION </a:t>
                      </a:r>
                      <a:r>
                        <a:rPr lang="es-ES" sz="900" b="1" strike="noStrike" spc="-1">
                          <a:solidFill>
                            <a:srgbClr val="FF0000"/>
                          </a:solidFill>
                          <a:latin typeface="Lucida Fax" panose="02060602050505020204" pitchFamily="18" charset="0"/>
                        </a:rPr>
                        <a:t>PENAL  DE FECHA 23 DE JUNIO DEL 2022 Y </a:t>
                      </a:r>
                      <a:r>
                        <a:rPr lang="es-ES" sz="900" b="1" strike="noStrike" spc="-1" dirty="0">
                          <a:solidFill>
                            <a:srgbClr val="FF0000"/>
                          </a:solidFill>
                          <a:latin typeface="Lucida Fax" panose="02060602050505020204" pitchFamily="18" charset="0"/>
                        </a:rPr>
                        <a:t>SE ORDENA LA REAPERTURA DE LA CARPETA DE INVESTIGACION ORDENADOSE NOTIFICAR A LA VICTIMA Y AL ASESOR JURIDICO EN UN TERMINO DE 5 DIAS EL DERECHO QUE TIENEN DE PROPOCICION DE ACTOS DE INVESTIGACION</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18734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MEDIDA CAUTELAR</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pPr>
                      <a:r>
                        <a:rPr lang="es-ES" sz="900" b="0" strike="noStrike" spc="-1" dirty="0">
                          <a:solidFill>
                            <a:schemeClr val="tx1"/>
                          </a:solidFill>
                          <a:latin typeface="Lucida Fax" panose="02060602050505020204" pitchFamily="18" charset="0"/>
                        </a:rPr>
                        <a:t>NO APLICA</a:t>
                      </a: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187340">
                <a:tc>
                  <a:txBody>
                    <a:bodyPr/>
                    <a:lstStyle/>
                    <a:p>
                      <a:pPr algn="just">
                        <a:lnSpc>
                          <a:spcPct val="107000"/>
                        </a:lnSpc>
                      </a:pPr>
                      <a:r>
                        <a:rPr lang="es-MX" sz="850" b="1" strike="noStrike" spc="-1" dirty="0">
                          <a:solidFill>
                            <a:srgbClr val="000000"/>
                          </a:solidFill>
                          <a:latin typeface="Lucida Fax" panose="02060602050505020204" pitchFamily="18" charset="0"/>
                          <a:ea typeface="Calibri"/>
                        </a:rPr>
                        <a:t>OBSERVACIONES</a:t>
                      </a:r>
                      <a:endParaRPr lang="es-ES" sz="850" b="0" strike="noStrike" spc="-1" dirty="0">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00000"/>
                        </a:lnSpc>
                        <a:tabLst>
                          <a:tab pos="0" algn="l"/>
                        </a:tabLst>
                      </a:pPr>
                      <a:r>
                        <a:rPr lang="es-MX" sz="900" b="0" strike="noStrike" spc="-1" dirty="0">
                          <a:solidFill>
                            <a:schemeClr val="tx1"/>
                          </a:solidFill>
                          <a:latin typeface="Lucida Fax" panose="02060602050505020204" pitchFamily="18" charset="0"/>
                        </a:rPr>
                        <a:t>PRESENCIAL </a:t>
                      </a:r>
                      <a:endParaRPr lang="es-ES" sz="900" b="0" strike="noStrike" spc="-1" dirty="0">
                        <a:solidFill>
                          <a:schemeClr val="tx1"/>
                        </a:solidFill>
                        <a:latin typeface="Lucida Fax" panose="02060602050505020204" pitchFamily="18" charset="0"/>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27585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2480250" y="480089"/>
            <a:ext cx="3296095" cy="242695"/>
          </a:xfrm>
          <a:prstGeom prst="rect">
            <a:avLst/>
          </a:prstGeom>
        </p:spPr>
        <p:txBody>
          <a:bodyPr wrap="none">
            <a:spAutoFit/>
          </a:bodyPr>
          <a:lstStyle/>
          <a:p>
            <a:pPr algn="ctr"/>
            <a:r>
              <a:rPr lang="es-MX" sz="977" b="1" dirty="0">
                <a:solidFill>
                  <a:schemeClr val="bg1">
                    <a:lumMod val="65000"/>
                  </a:schemeClr>
                </a:solidFill>
                <a:latin typeface="Lucida Fax" panose="02060602050505020204" pitchFamily="18" charset="0"/>
                <a:ea typeface="Calibri" panose="020F0502020204030204" pitchFamily="34" charset="0"/>
                <a:cs typeface="Times New Roman" panose="02020603050405020304" pitchFamily="18" charset="0"/>
              </a:rPr>
              <a:t>FISCALÍA DE INVESTIGACIÓN METROPOLITANA</a:t>
            </a:r>
            <a:endParaRPr lang="es-MX" sz="1368" dirty="0">
              <a:solidFill>
                <a:schemeClr val="bg1">
                  <a:lumMod val="65000"/>
                </a:schemeClr>
              </a:solidFill>
              <a:latin typeface="Lucida Fax" panose="02060602050505020204" pitchFamily="18" charset="0"/>
            </a:endParaRPr>
          </a:p>
        </p:txBody>
      </p:sp>
      <p:sp>
        <p:nvSpPr>
          <p:cNvPr id="13" name="Rectángulo 12"/>
          <p:cNvSpPr/>
          <p:nvPr/>
        </p:nvSpPr>
        <p:spPr>
          <a:xfrm>
            <a:off x="1768130" y="284529"/>
            <a:ext cx="4720320" cy="248059"/>
          </a:xfrm>
          <a:prstGeom prst="rect">
            <a:avLst/>
          </a:prstGeom>
        </p:spPr>
        <p:txBody>
          <a:bodyPr wrap="none">
            <a:spAutoFit/>
          </a:bodyPr>
          <a:lstStyle/>
          <a:p>
            <a:pPr algn="ctr"/>
            <a:r>
              <a:rPr lang="es-MX" sz="1026" b="1" dirty="0">
                <a:solidFill>
                  <a:schemeClr val="bg1">
                    <a:lumMod val="65000"/>
                  </a:schemeClr>
                </a:solidFill>
                <a:latin typeface="Lucida Fax" panose="02060602050505020204" pitchFamily="18" charset="0"/>
                <a:ea typeface="Calibri" panose="020F0502020204030204" pitchFamily="34" charset="0"/>
                <a:cs typeface="Times New Roman" panose="02020603050405020304" pitchFamily="18" charset="0"/>
              </a:rPr>
              <a:t> </a:t>
            </a:r>
            <a:r>
              <a:rPr lang="es-MX" sz="977" b="1" dirty="0">
                <a:solidFill>
                  <a:schemeClr val="bg1">
                    <a:lumMod val="65000"/>
                  </a:schemeClr>
                </a:solidFill>
                <a:latin typeface="Lucida Fax" panose="02060602050505020204" pitchFamily="18" charset="0"/>
                <a:ea typeface="Calibri" panose="020F0502020204030204" pitchFamily="34" charset="0"/>
                <a:cs typeface="Times New Roman" panose="02020603050405020304" pitchFamily="18" charset="0"/>
              </a:rPr>
              <a:t>REPORTE DE PARTICIPACIÓN MINISTERIAL EN AUDIENCIA JUDICIAL</a:t>
            </a:r>
            <a:endParaRPr lang="es-MX" sz="1026" b="1" dirty="0">
              <a:solidFill>
                <a:schemeClr val="bg1">
                  <a:lumMod val="65000"/>
                </a:schemeClr>
              </a:solidFill>
              <a:latin typeface="Lucida Fax" panose="02060602050505020204" pitchFamily="18" charset="0"/>
              <a:ea typeface="Calibri" panose="020F0502020204030204" pitchFamily="34" charset="0"/>
              <a:cs typeface="Times New Roman" panose="02020603050405020304" pitchFamily="18" charset="0"/>
            </a:endParaRPr>
          </a:p>
        </p:txBody>
      </p:sp>
      <p:graphicFrame>
        <p:nvGraphicFramePr>
          <p:cNvPr id="7" name="Tabla 6">
            <a:extLst>
              <a:ext uri="{FF2B5EF4-FFF2-40B4-BE49-F238E27FC236}">
                <a16:creationId xmlns:a16="http://schemas.microsoft.com/office/drawing/2014/main" id="{C261F0F1-67A6-40E3-942F-EEAB9B43319B}"/>
              </a:ext>
            </a:extLst>
          </p:cNvPr>
          <p:cNvGraphicFramePr>
            <a:graphicFrameLocks noGrp="1"/>
          </p:cNvGraphicFramePr>
          <p:nvPr>
            <p:extLst>
              <p:ext uri="{D42A27DB-BD31-4B8C-83A1-F6EECF244321}">
                <p14:modId xmlns:p14="http://schemas.microsoft.com/office/powerpoint/2010/main" val="2547929843"/>
              </p:ext>
            </p:extLst>
          </p:nvPr>
        </p:nvGraphicFramePr>
        <p:xfrm>
          <a:off x="314015" y="1063806"/>
          <a:ext cx="8593226" cy="4061282"/>
        </p:xfrm>
        <a:graphic>
          <a:graphicData uri="http://schemas.openxmlformats.org/drawingml/2006/table">
            <a:tbl>
              <a:tblPr firstRow="1" firstCol="1" bandRow="1"/>
              <a:tblGrid>
                <a:gridCol w="1152983">
                  <a:extLst>
                    <a:ext uri="{9D8B030D-6E8A-4147-A177-3AD203B41FA5}">
                      <a16:colId xmlns:a16="http://schemas.microsoft.com/office/drawing/2014/main" val="20000"/>
                    </a:ext>
                  </a:extLst>
                </a:gridCol>
                <a:gridCol w="3810672">
                  <a:extLst>
                    <a:ext uri="{9D8B030D-6E8A-4147-A177-3AD203B41FA5}">
                      <a16:colId xmlns:a16="http://schemas.microsoft.com/office/drawing/2014/main" val="20001"/>
                    </a:ext>
                  </a:extLst>
                </a:gridCol>
                <a:gridCol w="3629571">
                  <a:extLst>
                    <a:ext uri="{9D8B030D-6E8A-4147-A177-3AD203B41FA5}">
                      <a16:colId xmlns:a16="http://schemas.microsoft.com/office/drawing/2014/main" val="20002"/>
                    </a:ext>
                  </a:extLst>
                </a:gridCol>
              </a:tblGrid>
              <a:tr h="407012">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EXPEDIENTES </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s-MX" sz="800" b="1" kern="1200" dirty="0">
                          <a:solidFill>
                            <a:schemeClr val="tx1"/>
                          </a:solidFill>
                          <a:effectLst/>
                          <a:latin typeface="Lucida Fax" panose="02060602050505020204" pitchFamily="18" charset="0"/>
                          <a:ea typeface="+mn-ea"/>
                          <a:cs typeface="+mn-cs"/>
                        </a:rPr>
                        <a:t>CDI</a:t>
                      </a:r>
                      <a:r>
                        <a:rPr lang="es-MX" sz="800" b="1" kern="1200" baseline="0" dirty="0">
                          <a:solidFill>
                            <a:schemeClr val="tx1"/>
                          </a:solidFill>
                          <a:effectLst/>
                          <a:latin typeface="Lucida Fax" panose="02060602050505020204" pitchFamily="18" charset="0"/>
                          <a:ea typeface="+mn-ea"/>
                          <a:cs typeface="+mn-cs"/>
                        </a:rPr>
                        <a:t> 58/2020/ACAJETE</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s-MX" sz="800" b="0" dirty="0">
                          <a:effectLst/>
                          <a:latin typeface="Lucida Fax" panose="02060602050505020204" pitchFamily="18" charset="0"/>
                          <a:ea typeface="Calibri" panose="020F0502020204030204" pitchFamily="34" charset="0"/>
                          <a:cs typeface="Times New Roman" panose="02020603050405020304" pitchFamily="18" charset="0"/>
                        </a:rPr>
                        <a:t>CAUSA</a:t>
                      </a:r>
                      <a:r>
                        <a:rPr lang="es-MX" sz="800" b="0" baseline="0" dirty="0">
                          <a:effectLst/>
                          <a:latin typeface="Lucida Fax" panose="02060602050505020204" pitchFamily="18" charset="0"/>
                          <a:ea typeface="Calibri" panose="020F0502020204030204" pitchFamily="34" charset="0"/>
                          <a:cs typeface="Times New Roman" panose="02020603050405020304" pitchFamily="18" charset="0"/>
                        </a:rPr>
                        <a:t> PENAL: 1109/2020/PUEBLA</a:t>
                      </a:r>
                      <a:endParaRPr lang="es-MX" sz="800" b="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1585">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FECHA Y HORA DE INICIO</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a:lnSpc>
                          <a:spcPct val="107000"/>
                        </a:lnSpc>
                        <a:spcAft>
                          <a:spcPts val="0"/>
                        </a:spcAft>
                      </a:pPr>
                      <a:r>
                        <a:rPr lang="es-MX" sz="800" dirty="0">
                          <a:effectLst/>
                          <a:latin typeface="Lucida Fax" panose="02060602050505020204" pitchFamily="18" charset="0"/>
                          <a:ea typeface="Calibri" panose="020F0502020204030204" pitchFamily="34" charset="0"/>
                          <a:cs typeface="Times New Roman" panose="02020603050405020304" pitchFamily="18" charset="0"/>
                        </a:rPr>
                        <a:t>                           09/02/2026                                                                  HORA</a:t>
                      </a:r>
                      <a:r>
                        <a:rPr lang="es-MX" sz="800" baseline="0" dirty="0">
                          <a:effectLst/>
                          <a:latin typeface="Lucida Fax" panose="02060602050505020204" pitchFamily="18" charset="0"/>
                          <a:ea typeface="Calibri" panose="020F0502020204030204" pitchFamily="34" charset="0"/>
                          <a:cs typeface="Times New Roman" panose="02020603050405020304" pitchFamily="18" charset="0"/>
                        </a:rPr>
                        <a:t> PROGRAMADA: 12:30</a:t>
                      </a:r>
                      <a:r>
                        <a:rPr lang="es-MX" sz="800" dirty="0">
                          <a:effectLst/>
                          <a:latin typeface="Lucida Fax" panose="02060602050505020204" pitchFamily="18" charset="0"/>
                          <a:ea typeface="Calibri" panose="020F0502020204030204" pitchFamily="34" charset="0"/>
                          <a:cs typeface="Times New Roman" panose="02020603050405020304" pitchFamily="18" charset="0"/>
                        </a:rPr>
                        <a:t> </a:t>
                      </a:r>
                    </a:p>
                    <a:p>
                      <a:pPr algn="l">
                        <a:lnSpc>
                          <a:spcPct val="107000"/>
                        </a:lnSpc>
                        <a:spcAft>
                          <a:spcPts val="0"/>
                        </a:spcAft>
                      </a:pPr>
                      <a:r>
                        <a:rPr lang="es-MX" sz="800" dirty="0">
                          <a:effectLst/>
                          <a:latin typeface="Lucida Fax" panose="02060602050505020204" pitchFamily="18" charset="0"/>
                          <a:ea typeface="Calibri" panose="020F0502020204030204" pitchFamily="34" charset="0"/>
                          <a:cs typeface="Times New Roman" panose="02020603050405020304" pitchFamily="18" charset="0"/>
                        </a:rPr>
                        <a:t>                                                                                                                HORA</a:t>
                      </a:r>
                      <a:r>
                        <a:rPr lang="es-MX" sz="800" baseline="0" dirty="0">
                          <a:effectLst/>
                          <a:latin typeface="Lucida Fax" panose="02060602050505020204" pitchFamily="18" charset="0"/>
                          <a:ea typeface="Calibri" panose="020F0502020204030204" pitchFamily="34" charset="0"/>
                          <a:cs typeface="Times New Roman" panose="02020603050405020304" pitchFamily="18" charset="0"/>
                        </a:rPr>
                        <a:t> DE INICIO: 12:37 HRS   </a:t>
                      </a:r>
                      <a:r>
                        <a:rPr lang="es-MX" sz="800" dirty="0">
                          <a:effectLst/>
                          <a:latin typeface="Lucida Fax" panose="02060602050505020204" pitchFamily="18" charset="0"/>
                          <a:ea typeface="Calibri" panose="020F0502020204030204" pitchFamily="34" charset="0"/>
                          <a:cs typeface="Times New Roman" panose="02020603050405020304" pitchFamily="18" charset="0"/>
                        </a:rPr>
                        <a:t>     </a:t>
                      </a: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2"/>
                  </a:ext>
                </a:extLst>
              </a:tr>
              <a:tr h="222734">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DELITO</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algn="l" defTabSz="914400" rtl="0" eaLnBrk="1" latinLnBrk="0" hangingPunct="1">
                        <a:lnSpc>
                          <a:spcPct val="107000"/>
                        </a:lnSpc>
                        <a:spcAft>
                          <a:spcPts val="0"/>
                        </a:spcAft>
                      </a:pPr>
                      <a:r>
                        <a:rPr lang="es-MX" sz="800" b="0" kern="1200" dirty="0">
                          <a:solidFill>
                            <a:srgbClr val="FF0000"/>
                          </a:solidFill>
                          <a:effectLst/>
                          <a:latin typeface="Lucida Fax" panose="02060602050505020204" pitchFamily="18" charset="0"/>
                          <a:ea typeface="Calibri" panose="020F0502020204030204" pitchFamily="34" charset="0"/>
                          <a:cs typeface="Times New Roman" panose="02020603050405020304" pitchFamily="18" charset="0"/>
                        </a:rPr>
                        <a:t>ROBO</a:t>
                      </a:r>
                      <a:r>
                        <a:rPr lang="es-MX" sz="800" b="0" kern="1200" baseline="0" dirty="0">
                          <a:solidFill>
                            <a:srgbClr val="FF0000"/>
                          </a:solidFill>
                          <a:effectLst/>
                          <a:latin typeface="Lucida Fax" panose="02060602050505020204" pitchFamily="18" charset="0"/>
                          <a:ea typeface="Calibri" panose="020F0502020204030204" pitchFamily="34" charset="0"/>
                          <a:cs typeface="Times New Roman" panose="02020603050405020304" pitchFamily="18" charset="0"/>
                        </a:rPr>
                        <a:t> DE VEHÍCULO AGRAVADO</a:t>
                      </a:r>
                      <a:endParaRPr lang="es-MX" sz="800" b="0" kern="1200" dirty="0">
                        <a:solidFill>
                          <a:srgbClr val="FF0000"/>
                        </a:solidFill>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3"/>
                  </a:ext>
                </a:extLst>
              </a:tr>
              <a:tr h="186848">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IMPUTADO</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800" baseline="0">
                          <a:latin typeface="Lucida Fax" panose="02060602050505020204" pitchFamily="18" charset="0"/>
                        </a:rPr>
                        <a:t>ALONZO </a:t>
                      </a:r>
                      <a:r>
                        <a:rPr lang="es-MX" sz="800" baseline="0" dirty="0">
                          <a:latin typeface="Lucida Fax" panose="02060602050505020204" pitchFamily="18" charset="0"/>
                        </a:rPr>
                        <a:t>MACHORRO GONZALEZ</a:t>
                      </a:r>
                      <a:endParaRPr lang="es-MX" sz="800" dirty="0">
                        <a:latin typeface="Lucida Fax" panose="020606020505050202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4"/>
                  </a:ext>
                </a:extLst>
              </a:tr>
              <a:tr h="325288">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VICTIMA</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800" dirty="0">
                          <a:latin typeface="Lucida Fax" panose="02060602050505020204" pitchFamily="18" charset="0"/>
                        </a:rPr>
                        <a:t>ISRAEL</a:t>
                      </a:r>
                      <a:r>
                        <a:rPr lang="es-MX" sz="800" baseline="0" dirty="0">
                          <a:latin typeface="Lucida Fax" panose="02060602050505020204" pitchFamily="18" charset="0"/>
                        </a:rPr>
                        <a:t> ORTEGA FLORES</a:t>
                      </a:r>
                      <a:endParaRPr lang="es-MX" sz="800" dirty="0">
                        <a:latin typeface="Lucida Fax" panose="020606020505050202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5"/>
                  </a:ext>
                </a:extLst>
              </a:tr>
              <a:tr h="759312">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HECHO</a:t>
                      </a: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800" b="0" kern="1200" baseline="0" dirty="0">
                          <a:solidFill>
                            <a:schemeClr val="tx1"/>
                          </a:solidFill>
                          <a:effectLst/>
                          <a:latin typeface="Lucida Fax" panose="02060602050505020204" pitchFamily="18" charset="0"/>
                          <a:ea typeface="Calibri" panose="020F0502020204030204" pitchFamily="34" charset="0"/>
                          <a:cs typeface="Times New Roman" panose="02020603050405020304" pitchFamily="18" charset="0"/>
                        </a:rPr>
                        <a:t> EL10 DE JUNIO DE 2020, APROX. A LAS 14:20 HORAS LA VÍCTIMA CIRCULABA A BORDO DE SU MOTOCICLETA  MARCA ITALIKA, MODELO 2017,  SIN PLACAS DE CIRCULACIÓN,   SOBRE LA CALLE REFORMA ENTRE  5 Y 7 SUR DE LA POBLACIÓN LA MAGDALENA  TETELA, MUNICIPIO DE ACAJETE PUEBLA, CUANDO  SE ENCUENTRA DE FRENTE CON EL HOY SENTENCIADO, QUIEN CIRCULABA A BORDO DE UNA CAMIONETA  TACOMA, COLOR BLANCO,  PLACAS SL76443 DE PUEBLA, SIENDO EN ESE MOMENTO QUE ESTE ÚLTIMO LE AVIENTA LA CAMIONETA  A LA VÍCTIMA, OCASIONANDO QUE CAYERA, POSTERIORMENTE LE APUNTA CON UNA PISTOLA Y LO DESAPODERA  DE SU MOTOCICLETA. </a:t>
                      </a: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6"/>
                  </a:ext>
                </a:extLst>
              </a:tr>
              <a:tr h="416173">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TIPO DE AUDIENCIA</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a:endParaRPr lang="es-MX" sz="800" dirty="0">
                        <a:solidFill>
                          <a:srgbClr val="FF0000"/>
                        </a:solidFill>
                        <a:latin typeface="Lucida Fax" panose="02060602050505020204" pitchFamily="18" charset="0"/>
                      </a:endParaRPr>
                    </a:p>
                    <a:p>
                      <a:pPr algn="l"/>
                      <a:r>
                        <a:rPr lang="es-MX" sz="800" baseline="0" dirty="0">
                          <a:solidFill>
                            <a:srgbClr val="FF0000"/>
                          </a:solidFill>
                          <a:latin typeface="Lucida Fax" panose="02060602050505020204" pitchFamily="18" charset="0"/>
                        </a:rPr>
                        <a:t>LECTURA Y EXPLICACION DE SENTENCIA</a:t>
                      </a:r>
                      <a:endParaRPr lang="es-MX" sz="800" dirty="0">
                        <a:solidFill>
                          <a:srgbClr val="FF0000"/>
                        </a:solidFill>
                        <a:latin typeface="Lucida Fax" panose="020606020505050202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7"/>
                  </a:ext>
                </a:extLst>
              </a:tr>
              <a:tr h="264574">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JUEZ</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800" dirty="0">
                          <a:solidFill>
                            <a:schemeClr val="tx1"/>
                          </a:solidFill>
                          <a:latin typeface="Lucida Fax" panose="02060602050505020204" pitchFamily="18" charset="0"/>
                        </a:rPr>
                        <a:t>ALVARO</a:t>
                      </a:r>
                      <a:r>
                        <a:rPr lang="es-MX" sz="800" baseline="0" dirty="0">
                          <a:solidFill>
                            <a:schemeClr val="tx1"/>
                          </a:solidFill>
                          <a:latin typeface="Lucida Fax" panose="02060602050505020204" pitchFamily="18" charset="0"/>
                        </a:rPr>
                        <a:t> SARMIENTO VAZQUEZ</a:t>
                      </a:r>
                      <a:endParaRPr lang="es-MX" sz="800" dirty="0">
                        <a:solidFill>
                          <a:schemeClr val="tx1"/>
                        </a:solidFill>
                        <a:latin typeface="Lucida Fax" panose="020606020505050202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8"/>
                  </a:ext>
                </a:extLst>
              </a:tr>
              <a:tr h="294138">
                <a:tc>
                  <a:txBody>
                    <a:bodyPr/>
                    <a:lstStyle/>
                    <a:p>
                      <a:pPr algn="l">
                        <a:lnSpc>
                          <a:spcPct val="107000"/>
                        </a:lnSpc>
                        <a:spcAft>
                          <a:spcPts val="0"/>
                        </a:spcAft>
                      </a:pPr>
                      <a:r>
                        <a:rPr lang="es-MX" sz="800" dirty="0">
                          <a:effectLst/>
                          <a:latin typeface="Lucida Fax" panose="02060602050505020204" pitchFamily="18" charset="0"/>
                          <a:ea typeface="Calibri" panose="020F0502020204030204" pitchFamily="34" charset="0"/>
                          <a:cs typeface="Times New Roman" panose="02020603050405020304" pitchFamily="18" charset="0"/>
                        </a:rPr>
                        <a:t>MP</a:t>
                      </a: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800" baseline="0" dirty="0">
                          <a:solidFill>
                            <a:schemeClr val="tx1"/>
                          </a:solidFill>
                          <a:latin typeface="Lucida Fax" panose="02060602050505020204" pitchFamily="18" charset="0"/>
                        </a:rPr>
                        <a:t>ERIKA FLORES  GARCÍA     </a:t>
                      </a: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3083197724"/>
                  </a:ext>
                </a:extLst>
              </a:tr>
              <a:tr h="502723">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RESULTADO</a:t>
                      </a:r>
                      <a:endParaRPr lang="es-MX" sz="800" dirty="0">
                        <a:effectLst/>
                        <a:latin typeface="Lucida Fax" panose="02060602050505020204" pitchFamily="18" charset="0"/>
                        <a:ea typeface="Calibri" panose="020F0502020204030204" pitchFamily="34" charset="0"/>
                        <a:cs typeface="Times New Roman" panose="02020603050405020304" pitchFamily="18" charset="0"/>
                      </a:endParaRP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800" b="0" kern="1200" baseline="0" dirty="0">
                        <a:solidFill>
                          <a:srgbClr val="FF0000"/>
                        </a:solidFill>
                        <a:effectLst/>
                        <a:latin typeface="Lucida Fax" panose="02060602050505020204" pitchFamily="18"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800" b="0" kern="1200" baseline="0" dirty="0">
                          <a:solidFill>
                            <a:srgbClr val="FF0000"/>
                          </a:solidFill>
                          <a:effectLst/>
                          <a:latin typeface="Lucida Fax" panose="02060602050505020204" pitchFamily="18" charset="0"/>
                          <a:ea typeface="Calibri" panose="020F0502020204030204" pitchFamily="34" charset="0"/>
                          <a:cs typeface="Times New Roman" panose="02020603050405020304" pitchFamily="18" charset="0"/>
                        </a:rPr>
                        <a:t>SE APERTURA AUDIENCIA,   EN CUMPLIMIENTO A RESOLUCIÓN DEL PRIMER TRIBUNAL DE ALZADA, JUEZ DA LECTURA ÍNTEGRA A LA SENTENCIA CONDENATORIA DE 12 DE JULIO DE 2024</a:t>
                      </a: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09"/>
                  </a:ext>
                </a:extLst>
              </a:tr>
              <a:tr h="350895">
                <a:tc>
                  <a:txBody>
                    <a:bodyPr/>
                    <a:lstStyle/>
                    <a:p>
                      <a:pPr algn="l">
                        <a:lnSpc>
                          <a:spcPct val="107000"/>
                        </a:lnSpc>
                        <a:spcAft>
                          <a:spcPts val="0"/>
                        </a:spcAft>
                      </a:pPr>
                      <a:r>
                        <a:rPr lang="es-MX" sz="800" b="1" dirty="0">
                          <a:effectLst/>
                          <a:latin typeface="Lucida Fax" panose="02060602050505020204" pitchFamily="18" charset="0"/>
                          <a:ea typeface="Calibri" panose="020F0502020204030204" pitchFamily="34" charset="0"/>
                          <a:cs typeface="Times New Roman" panose="02020603050405020304" pitchFamily="18" charset="0"/>
                        </a:rPr>
                        <a:t>OBSERVACIONES</a:t>
                      </a:r>
                    </a:p>
                  </a:txBody>
                  <a:tcPr marL="66998" marR="669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MX" sz="800" b="0" baseline="0" dirty="0">
                        <a:latin typeface="Lucida Fax" panose="02060602050505020204" pitchFamily="18" charset="0"/>
                      </a:endParaRPr>
                    </a:p>
                  </a:txBody>
                  <a:tcPr marL="66998" marR="669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MX"/>
                    </a:p>
                  </a:txBody>
                  <a:tcPr/>
                </a:tc>
                <a:extLst>
                  <a:ext uri="{0D108BD9-81ED-4DB2-BD59-A6C34878D82A}">
                    <a16:rowId xmlns:a16="http://schemas.microsoft.com/office/drawing/2014/main" val="10011"/>
                  </a:ext>
                </a:extLst>
              </a:tr>
            </a:tbl>
          </a:graphicData>
        </a:graphic>
      </p:graphicFrame>
      <p:pic>
        <p:nvPicPr>
          <p:cNvPr id="9" name="Imagen 8" descr="Fiscalia-logo"/>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362" y="159282"/>
            <a:ext cx="947779" cy="682476"/>
          </a:xfrm>
          <a:prstGeom prst="rect">
            <a:avLst/>
          </a:prstGeom>
          <a:noFill/>
          <a:ln>
            <a:noFill/>
          </a:ln>
        </p:spPr>
      </p:pic>
      <p:pic>
        <p:nvPicPr>
          <p:cNvPr id="10" name="Imagen 9"/>
          <p:cNvPicPr>
            <a:picLocks noChangeAspect="1"/>
          </p:cNvPicPr>
          <p:nvPr/>
        </p:nvPicPr>
        <p:blipFill rotWithShape="1">
          <a:blip r:embed="rId4"/>
          <a:srcRect l="34124" t="9789" r="33383" b="9455"/>
          <a:stretch/>
        </p:blipFill>
        <p:spPr>
          <a:xfrm>
            <a:off x="7279689" y="262241"/>
            <a:ext cx="503046" cy="540694"/>
          </a:xfrm>
          <a:prstGeom prst="rect">
            <a:avLst/>
          </a:prstGeom>
        </p:spPr>
      </p:pic>
    </p:spTree>
    <p:extLst>
      <p:ext uri="{BB962C8B-B14F-4D97-AF65-F5344CB8AC3E}">
        <p14:creationId xmlns:p14="http://schemas.microsoft.com/office/powerpoint/2010/main" val="3620806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CustomShape 1"/>
          <p:cNvSpPr/>
          <p:nvPr/>
        </p:nvSpPr>
        <p:spPr>
          <a:xfrm>
            <a:off x="1819174" y="431980"/>
            <a:ext cx="3303169" cy="239121"/>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977" b="1" spc="-1" dirty="0">
                <a:solidFill>
                  <a:srgbClr val="A6A6A6"/>
                </a:solidFill>
                <a:latin typeface="Lucida Fax"/>
                <a:ea typeface="Calibri"/>
              </a:rPr>
              <a:t>FISCALIA DE INVESTIGACIÓN METROPOLITANA</a:t>
            </a:r>
            <a:endParaRPr lang="es-ES" sz="977" spc="-1" dirty="0">
              <a:solidFill>
                <a:prstClr val="black"/>
              </a:solidFill>
              <a:latin typeface="Arial"/>
            </a:endParaRPr>
          </a:p>
        </p:txBody>
      </p:sp>
      <p:pic>
        <p:nvPicPr>
          <p:cNvPr id="66" name="Imagen 7"/>
          <p:cNvPicPr/>
          <p:nvPr/>
        </p:nvPicPr>
        <p:blipFill>
          <a:blip r:embed="rId3"/>
          <a:srcRect l="34124" t="9793" r="33383" b="9458"/>
          <a:stretch/>
        </p:blipFill>
        <p:spPr>
          <a:xfrm>
            <a:off x="247545" y="79936"/>
            <a:ext cx="502574" cy="655736"/>
          </a:xfrm>
          <a:prstGeom prst="rect">
            <a:avLst/>
          </a:prstGeom>
          <a:ln w="0">
            <a:noFill/>
          </a:ln>
        </p:spPr>
      </p:pic>
      <p:sp>
        <p:nvSpPr>
          <p:cNvPr id="67" name="CustomShape 2"/>
          <p:cNvSpPr/>
          <p:nvPr/>
        </p:nvSpPr>
        <p:spPr>
          <a:xfrm>
            <a:off x="1277991" y="267199"/>
            <a:ext cx="4710088" cy="246639"/>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1026" b="1" spc="-1" dirty="0">
                <a:solidFill>
                  <a:srgbClr val="A6A6A6"/>
                </a:solidFill>
                <a:latin typeface="Lucida Fax"/>
                <a:ea typeface="Calibri"/>
              </a:rPr>
              <a:t> </a:t>
            </a:r>
            <a:r>
              <a:rPr lang="es-MX" sz="977" b="1" spc="-1" dirty="0">
                <a:solidFill>
                  <a:srgbClr val="A6A6A6"/>
                </a:solidFill>
                <a:latin typeface="Lucida Fax"/>
                <a:ea typeface="Calibri"/>
              </a:rPr>
              <a:t>REPORTE DE PARTICIPACIÓN MINISTERIAL EN AUDIENCIA JUDICIAL</a:t>
            </a:r>
            <a:endParaRPr lang="es-ES" sz="977" spc="-1" dirty="0">
              <a:solidFill>
                <a:prstClr val="black"/>
              </a:solidFill>
              <a:latin typeface="Arial"/>
            </a:endParaRPr>
          </a:p>
        </p:txBody>
      </p:sp>
      <p:graphicFrame>
        <p:nvGraphicFramePr>
          <p:cNvPr id="2" name="Table 3">
            <a:extLst>
              <a:ext uri="{FF2B5EF4-FFF2-40B4-BE49-F238E27FC236}">
                <a16:creationId xmlns:a16="http://schemas.microsoft.com/office/drawing/2014/main" id="{6A1DEF07-E181-44FA-FD37-751DC2954633}"/>
              </a:ext>
            </a:extLst>
          </p:cNvPr>
          <p:cNvGraphicFramePr/>
          <p:nvPr/>
        </p:nvGraphicFramePr>
        <p:xfrm>
          <a:off x="247545" y="914695"/>
          <a:ext cx="8648910" cy="4099875"/>
        </p:xfrm>
        <a:graphic>
          <a:graphicData uri="http://schemas.openxmlformats.org/drawingml/2006/table">
            <a:tbl>
              <a:tblPr/>
              <a:tblGrid>
                <a:gridCol w="1368191">
                  <a:extLst>
                    <a:ext uri="{9D8B030D-6E8A-4147-A177-3AD203B41FA5}">
                      <a16:colId xmlns:a16="http://schemas.microsoft.com/office/drawing/2014/main" val="20000"/>
                    </a:ext>
                  </a:extLst>
                </a:gridCol>
                <a:gridCol w="3799221">
                  <a:extLst>
                    <a:ext uri="{9D8B030D-6E8A-4147-A177-3AD203B41FA5}">
                      <a16:colId xmlns:a16="http://schemas.microsoft.com/office/drawing/2014/main" val="20001"/>
                    </a:ext>
                  </a:extLst>
                </a:gridCol>
                <a:gridCol w="3481498">
                  <a:extLst>
                    <a:ext uri="{9D8B030D-6E8A-4147-A177-3AD203B41FA5}">
                      <a16:colId xmlns:a16="http://schemas.microsoft.com/office/drawing/2014/main" val="20002"/>
                    </a:ext>
                  </a:extLst>
                </a:gridCol>
              </a:tblGrid>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EXPEDIENTES </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dirty="0">
                          <a:solidFill>
                            <a:srgbClr val="000000"/>
                          </a:solidFill>
                          <a:latin typeface="Lucida Fax" panose="02060602050505020204" pitchFamily="18" charset="0"/>
                        </a:rPr>
                        <a:t>714/2019/ZC</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CP: 370/2025/JO/CENTRO</a:t>
                      </a:r>
                    </a:p>
                  </a:txBody>
                  <a:tcPr marL="66822" marR="66822" marT="44665" marB="4466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2435">
                <a:tc>
                  <a:txBody>
                    <a:bodyPr/>
                    <a:lstStyle/>
                    <a:p>
                      <a:pPr algn="just">
                        <a:lnSpc>
                          <a:spcPct val="150000"/>
                        </a:lnSpc>
                        <a:tabLst>
                          <a:tab pos="0" algn="l"/>
                        </a:tabLst>
                      </a:pPr>
                      <a:r>
                        <a:rPr lang="es-MX" sz="850" b="1" strike="noStrike" spc="-1" dirty="0">
                          <a:solidFill>
                            <a:srgbClr val="000000"/>
                          </a:solidFill>
                          <a:latin typeface="Lucida Fax" panose="02060602050505020204" pitchFamily="18" charset="0"/>
                          <a:ea typeface="Calibri"/>
                        </a:rPr>
                        <a:t>FECHA Y HORA</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00000"/>
                        </a:lnSpc>
                        <a:tabLst>
                          <a:tab pos="0" algn="l"/>
                        </a:tabLst>
                      </a:pPr>
                      <a:r>
                        <a:rPr lang="es-MX" sz="850" b="0" strike="noStrike" spc="-1" dirty="0">
                          <a:solidFill>
                            <a:srgbClr val="000000"/>
                          </a:solidFill>
                          <a:latin typeface="Lucida Fax" panose="02060602050505020204" pitchFamily="18" charset="0"/>
                          <a:ea typeface="Calibri"/>
                        </a:rPr>
                        <a:t>09 DE FEBRERO </a:t>
                      </a:r>
                      <a:r>
                        <a:rPr lang="es-MX" sz="850" b="0" strike="noStrike" spc="-1" baseline="0" dirty="0">
                          <a:solidFill>
                            <a:srgbClr val="000000"/>
                          </a:solidFill>
                          <a:latin typeface="Lucida Fax" panose="02060602050505020204" pitchFamily="18" charset="0"/>
                          <a:ea typeface="Calibri"/>
                        </a:rPr>
                        <a:t>DE 2026                                                                </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700" cap="flat" cmpd="sng" algn="ctr">
                      <a:solidFill>
                        <a:schemeClr val="tx1"/>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just">
                        <a:lnSpc>
                          <a:spcPct val="100000"/>
                        </a:lnSpc>
                        <a:tabLst>
                          <a:tab pos="0" algn="l"/>
                        </a:tabLst>
                      </a:pPr>
                      <a:r>
                        <a:rPr lang="es-MX" sz="850" b="0" strike="noStrike" spc="-1" dirty="0">
                          <a:solidFill>
                            <a:srgbClr val="000000"/>
                          </a:solidFill>
                          <a:latin typeface="Lucida Fax" panose="02060602050505020204" pitchFamily="18" charset="0"/>
                        </a:rPr>
                        <a:t>HORA SEÑALADA: 11:00 HORAS</a:t>
                      </a:r>
                    </a:p>
                    <a:p>
                      <a:pPr algn="just">
                        <a:lnSpc>
                          <a:spcPct val="100000"/>
                        </a:lnSpc>
                        <a:tabLst>
                          <a:tab pos="0" algn="l"/>
                        </a:tabLst>
                      </a:pPr>
                      <a:r>
                        <a:rPr lang="es-MX" sz="850" b="0" strike="noStrike" spc="-1" dirty="0">
                          <a:solidFill>
                            <a:srgbClr val="000000"/>
                          </a:solidFill>
                          <a:latin typeface="Lucida Fax" panose="02060602050505020204" pitchFamily="18" charset="0"/>
                        </a:rPr>
                        <a:t>HORA DE INICIO: 11:46 HORAS</a:t>
                      </a:r>
                      <a:endParaRPr lang="es-ES" sz="850" b="0" strike="noStrike" spc="-1" dirty="0">
                        <a:latin typeface="Lucida Fax" panose="02060602050505020204" pitchFamily="18" charset="0"/>
                      </a:endParaRPr>
                    </a:p>
                  </a:txBody>
                  <a:tcPr marL="66822" marR="66822" marT="44665" marB="44665" anchor="ctr">
                    <a:lnL w="12700" cap="flat" cmpd="sng" algn="ctr">
                      <a:solidFill>
                        <a:schemeClr val="tx1"/>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DELITO</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baseline="0" dirty="0">
                          <a:latin typeface="Lucida Fax" panose="02060602050505020204" pitchFamily="18" charset="0"/>
                        </a:rPr>
                        <a:t>LESIONES CALIFICADAS</a:t>
                      </a:r>
                    </a:p>
                  </a:txBody>
                  <a:tcPr marL="66822" marR="66822" marT="44665" marB="4466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IMPUTADO</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Arturo Rodríguez Bravo </a:t>
                      </a: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3"/>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OFENDIDO</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Ezequiel Navarro Román</a:t>
                      </a: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444235">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HECHO</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r>
                        <a:rPr lang="es-MX" sz="900" kern="1200" dirty="0">
                          <a:solidFill>
                            <a:schemeClr val="tx1"/>
                          </a:solidFill>
                          <a:effectLst/>
                          <a:latin typeface="Lucida Fax" panose="02060602050505020204" pitchFamily="18" charset="77"/>
                          <a:ea typeface="+mn-ea"/>
                          <a:cs typeface="+mn-cs"/>
                        </a:rPr>
                        <a:t>"EL DÍA UNO DE ENERO DE 2019, APROXIMADAMENTE ENTRE LAS 06:30 HORAS Y 06:40 HORAS DE LA MAÑANA, ARTURO RODRÍGUEZ BRAVO, LLEGÓ A LA CASA UBICADA EN EL DOMICILIO CALLE DIAGONAL DE LA 32 SUR NÚMERO 3102 DE LA COLONIA GENERAL MIGUEL NEGRETE DE ESTA CIUDAD Y ESTANDO ESPECÍFICAMENTE EN LA SALA, CUANDO EL ACUSADO ARTURO RODRÍGUEZ BRAVO, TOMÓ UNA SILLA CON LA QUE GOLPEÓ A EZEQUIEL NAVARRO ROMÁN, EN LA CARA, CAUSÁNDOLE UNA LESIÓN QUE CONSISTIÓ EN UN TRAUMA OCULAR IZQUIERDO GENERÁNDOLE LA PÉRDIDA DEL GLOBO OCULAR DE ESE MISMO LADO IZQUIERDO, POR UN ESTALLAMIENTO AFECTANDO PERMANENTEMENTE SU FUNCIÓN ORGÁNICA PUES PRODUJO LA PÉRDIDA DE ESE MISMO OJO IZQUIERDO."</a:t>
                      </a:r>
                      <a:endParaRPr lang="es-ES" sz="850" b="0" strike="noStrike" spc="-1" dirty="0">
                        <a:solidFill>
                          <a:schemeClr val="tx1"/>
                        </a:solidFill>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TIPO DE AUDIENCIA</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solidFill>
                            <a:srgbClr val="FF0000"/>
                          </a:solidFill>
                          <a:latin typeface="Lucida Fax" panose="02060602050505020204" pitchFamily="18" charset="0"/>
                        </a:rPr>
                        <a:t>JUICIO ORAL</a:t>
                      </a:r>
                      <a:endParaRPr lang="es-ES" sz="850" b="0" strike="noStrike" spc="-1" dirty="0">
                        <a:solidFill>
                          <a:srgbClr val="FF0000"/>
                        </a:solidFill>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JUEZ</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baseline="0" dirty="0">
                          <a:latin typeface="Lucida Fax" panose="02060602050505020204" pitchFamily="18" charset="0"/>
                        </a:rPr>
                        <a:t>JUAN CARLOS MAPICA ALADRO.                                                 M.P. Alejandro Aguilar Sánchez y Erica Morales Martínez.</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63406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RESULTADO</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dirty="0">
                          <a:solidFill>
                            <a:srgbClr val="FF0000"/>
                          </a:solidFill>
                          <a:latin typeface="Lucida Fax" panose="02060602050505020204" pitchFamily="18" charset="0"/>
                        </a:rPr>
                        <a:t>Se continuó con el desfile probatorio de lo cual pasaron los siguientes testigos, José Jorge Hernández </a:t>
                      </a:r>
                      <a:r>
                        <a:rPr lang="es-MX" sz="850" b="0" strike="noStrike" spc="-1" dirty="0" err="1">
                          <a:solidFill>
                            <a:srgbClr val="FF0000"/>
                          </a:solidFill>
                          <a:latin typeface="Lucida Fax" panose="02060602050505020204" pitchFamily="18" charset="0"/>
                        </a:rPr>
                        <a:t>Preza</a:t>
                      </a:r>
                      <a:r>
                        <a:rPr lang="es-MX" sz="850" b="0" strike="noStrike" spc="-1" dirty="0">
                          <a:solidFill>
                            <a:srgbClr val="FF0000"/>
                          </a:solidFill>
                          <a:latin typeface="Lucida Fax" panose="02060602050505020204" pitchFamily="18" charset="0"/>
                        </a:rPr>
                        <a:t>, Se señalaron las 09:00 horas del día 12 de Febrero del año en curso, a efecto de exponer los alegatos de clausura.</a:t>
                      </a:r>
                      <a:endParaRPr lang="es-ES" sz="850" b="0" strike="noStrike" spc="-1" dirty="0">
                        <a:solidFill>
                          <a:srgbClr val="FF0000"/>
                        </a:solidFill>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8"/>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MEDIDA CAUTELAR</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latin typeface="Lucida Fax" panose="02060602050505020204" pitchFamily="18" charset="0"/>
                        </a:rPr>
                        <a:t>PRISIÓN PREVENTIVA OFICIOSA</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54593">
                <a:tc>
                  <a:txBody>
                    <a:bodyPr/>
                    <a:lstStyle/>
                    <a:p>
                      <a:pPr algn="just">
                        <a:lnSpc>
                          <a:spcPct val="150000"/>
                        </a:lnSpc>
                      </a:pPr>
                      <a:r>
                        <a:rPr lang="es-MX" sz="850" b="1" strike="noStrike" spc="-1" dirty="0">
                          <a:solidFill>
                            <a:srgbClr val="000000"/>
                          </a:solidFill>
                          <a:latin typeface="Lucida Fax" panose="02060602050505020204" pitchFamily="18" charset="0"/>
                          <a:ea typeface="Calibri"/>
                        </a:rPr>
                        <a:t>OBSERVACIONES</a:t>
                      </a:r>
                      <a:endParaRPr lang="es-ES" sz="850" b="0" strike="noStrike" spc="-1" dirty="0">
                        <a:latin typeface="Lucida Fax" panose="02060602050505020204" pitchFamily="18" charset="0"/>
                      </a:endParaRPr>
                    </a:p>
                  </a:txBody>
                  <a:tcPr marL="66822" marR="66822" marT="44665" marB="44665"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Se señalaron las 09:00 horas del día 12 de Febrero del año en curso, a efecto de exponer los alegatos de clausura.</a:t>
                      </a:r>
                    </a:p>
                  </a:txBody>
                  <a:tcPr marL="66822" marR="66822" marT="44665" marB="44665"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7" name="Imagen 6" descr="Fiscalia-logo">
            <a:extLst>
              <a:ext uri="{FF2B5EF4-FFF2-40B4-BE49-F238E27FC236}">
                <a16:creationId xmlns:a16="http://schemas.microsoft.com/office/drawing/2014/main" id="{15129ECB-D75C-463D-B3EC-8AF8A470883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5420" y="0"/>
            <a:ext cx="1931035" cy="795020"/>
          </a:xfrm>
          <a:prstGeom prst="rect">
            <a:avLst/>
          </a:prstGeom>
          <a:noFill/>
          <a:ln>
            <a:noFill/>
          </a:ln>
        </p:spPr>
      </p:pic>
    </p:spTree>
    <p:extLst>
      <p:ext uri="{BB962C8B-B14F-4D97-AF65-F5344CB8AC3E}">
        <p14:creationId xmlns:p14="http://schemas.microsoft.com/office/powerpoint/2010/main" val="2800165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ustomShape 1"/>
          <p:cNvSpPr/>
          <p:nvPr/>
        </p:nvSpPr>
        <p:spPr>
          <a:xfrm>
            <a:off x="2524739" y="548054"/>
            <a:ext cx="3226976" cy="233605"/>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defRPr/>
            </a:pPr>
            <a:r>
              <a:rPr lang="es-MX" sz="954" b="1" spc="-1">
                <a:solidFill>
                  <a:srgbClr val="A6A6A6"/>
                </a:solidFill>
                <a:latin typeface="Lucida Fax"/>
                <a:ea typeface="Calibri"/>
              </a:rPr>
              <a:t>FISCALIA DE INVESTIGACIÓN METROPOLITANA</a:t>
            </a:r>
            <a:endParaRPr lang="es-ES" sz="954" spc="-1">
              <a:solidFill>
                <a:prstClr val="black"/>
              </a:solidFill>
              <a:latin typeface="Arial"/>
            </a:endParaRPr>
          </a:p>
        </p:txBody>
      </p:sp>
      <p:sp>
        <p:nvSpPr>
          <p:cNvPr id="49" name="CustomShape 2"/>
          <p:cNvSpPr/>
          <p:nvPr/>
        </p:nvSpPr>
        <p:spPr>
          <a:xfrm>
            <a:off x="1837847" y="357019"/>
            <a:ext cx="4601443" cy="240950"/>
          </a:xfrm>
          <a:prstGeom prst="rect">
            <a:avLst/>
          </a:prstGeom>
          <a:noFill/>
          <a:ln w="0">
            <a:noFill/>
          </a:ln>
        </p:spPr>
        <p:style>
          <a:lnRef idx="0">
            <a:scrgbClr r="0" g="0" b="0"/>
          </a:lnRef>
          <a:fillRef idx="0">
            <a:scrgbClr r="0" g="0" b="0"/>
          </a:fillRef>
          <a:effectRef idx="0">
            <a:scrgbClr r="0" g="0" b="0"/>
          </a:effectRef>
          <a:fontRef idx="minor"/>
        </p:style>
        <p:txBody>
          <a:bodyPr wrap="none" lIns="85896" tIns="42948" rIns="85896" bIns="42948">
            <a:spAutoFit/>
          </a:bodyPr>
          <a:lstStyle/>
          <a:p>
            <a:pPr algn="ctr">
              <a:defRPr/>
            </a:pPr>
            <a:r>
              <a:rPr lang="es-MX" sz="1002" b="1" spc="-1">
                <a:solidFill>
                  <a:srgbClr val="A6A6A6"/>
                </a:solidFill>
                <a:latin typeface="Lucida Fax"/>
                <a:ea typeface="Calibri"/>
              </a:rPr>
              <a:t> </a:t>
            </a:r>
            <a:r>
              <a:rPr lang="es-MX" sz="954" b="1" spc="-1">
                <a:solidFill>
                  <a:srgbClr val="A6A6A6"/>
                </a:solidFill>
                <a:latin typeface="Lucida Fax"/>
                <a:ea typeface="Calibri"/>
              </a:rPr>
              <a:t>REPORTE DE PARTICIPACIÓN MINISTERIAL EN AUDIENCIA JUDICIAL</a:t>
            </a:r>
            <a:endParaRPr lang="es-ES" sz="954" spc="-1">
              <a:solidFill>
                <a:prstClr val="black"/>
              </a:solidFill>
              <a:latin typeface="Arial"/>
            </a:endParaRPr>
          </a:p>
        </p:txBody>
      </p:sp>
      <p:pic>
        <p:nvPicPr>
          <p:cNvPr id="7" name="Imagen 6" descr="Fiscalia-logo"/>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6181" y="331503"/>
            <a:ext cx="1559789" cy="450155"/>
          </a:xfrm>
          <a:prstGeom prst="rect">
            <a:avLst/>
          </a:prstGeom>
          <a:noFill/>
          <a:ln>
            <a:noFill/>
          </a:ln>
        </p:spPr>
      </p:pic>
      <p:pic>
        <p:nvPicPr>
          <p:cNvPr id="6" name="Imagen 7"/>
          <p:cNvPicPr/>
          <p:nvPr/>
        </p:nvPicPr>
        <p:blipFill>
          <a:blip r:embed="rId4"/>
          <a:srcRect l="34124" t="9793" r="33383" b="9458"/>
          <a:stretch/>
        </p:blipFill>
        <p:spPr>
          <a:xfrm>
            <a:off x="481648" y="356341"/>
            <a:ext cx="502574" cy="540205"/>
          </a:xfrm>
          <a:prstGeom prst="rect">
            <a:avLst/>
          </a:prstGeom>
          <a:ln w="0">
            <a:noFill/>
          </a:ln>
        </p:spPr>
      </p:pic>
      <p:graphicFrame>
        <p:nvGraphicFramePr>
          <p:cNvPr id="8" name="Table 3"/>
          <p:cNvGraphicFramePr/>
          <p:nvPr/>
        </p:nvGraphicFramePr>
        <p:xfrm>
          <a:off x="238990" y="904320"/>
          <a:ext cx="8603673" cy="4452318"/>
        </p:xfrm>
        <a:graphic>
          <a:graphicData uri="http://schemas.openxmlformats.org/drawingml/2006/table">
            <a:tbl>
              <a:tblPr/>
              <a:tblGrid>
                <a:gridCol w="1390123">
                  <a:extLst>
                    <a:ext uri="{9D8B030D-6E8A-4147-A177-3AD203B41FA5}">
                      <a16:colId xmlns:a16="http://schemas.microsoft.com/office/drawing/2014/main" val="20000"/>
                    </a:ext>
                  </a:extLst>
                </a:gridCol>
                <a:gridCol w="3750261">
                  <a:extLst>
                    <a:ext uri="{9D8B030D-6E8A-4147-A177-3AD203B41FA5}">
                      <a16:colId xmlns:a16="http://schemas.microsoft.com/office/drawing/2014/main" val="20001"/>
                    </a:ext>
                  </a:extLst>
                </a:gridCol>
                <a:gridCol w="3463289">
                  <a:extLst>
                    <a:ext uri="{9D8B030D-6E8A-4147-A177-3AD203B41FA5}">
                      <a16:colId xmlns:a16="http://schemas.microsoft.com/office/drawing/2014/main" val="20002"/>
                    </a:ext>
                  </a:extLst>
                </a:gridCol>
              </a:tblGrid>
              <a:tr h="211710">
                <a:tc>
                  <a:txBody>
                    <a:bodyPr/>
                    <a:lstStyle/>
                    <a:p>
                      <a:pPr algn="just">
                        <a:lnSpc>
                          <a:spcPct val="150000"/>
                        </a:lnSpc>
                      </a:pPr>
                      <a:r>
                        <a:rPr lang="es-MX" sz="850" b="1" strike="noStrike" spc="-1" dirty="0">
                          <a:solidFill>
                            <a:srgbClr val="000000"/>
                          </a:solidFill>
                          <a:latin typeface="Lucida Fax"/>
                          <a:ea typeface="Calibri"/>
                        </a:rPr>
                        <a:t>EXPEDIENTES </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CDI FGEP/CDI/FIM/FLAGRANCIA -1/014179/2022</a:t>
                      </a:r>
                      <a:endParaRPr lang="es-ES" sz="850" b="0" strike="noStrike" spc="-1" dirty="0">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50000"/>
                        </a:lnSpc>
                        <a:tabLst>
                          <a:tab pos="0" algn="l"/>
                        </a:tabLst>
                      </a:pPr>
                      <a:r>
                        <a:rPr lang="es-MX" sz="850" b="0" strike="noStrike" spc="-1" dirty="0">
                          <a:solidFill>
                            <a:srgbClr val="000000"/>
                          </a:solidFill>
                          <a:latin typeface="Lucida Fax"/>
                          <a:ea typeface="Calibri"/>
                        </a:rPr>
                        <a:t>CP: 332/2022/CHOLULA</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95878">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8400" marR="68400" anchor="ct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09 DE FEBRERO DE 2026                    </a:t>
                      </a:r>
                      <a:endParaRPr lang="es-ES" sz="850" b="0" strike="noStrike" spc="-1" dirty="0">
                        <a:latin typeface="Lucida Fax" panose="02060602050505020204" pitchFamily="18" charset="0"/>
                      </a:endParaRPr>
                    </a:p>
                  </a:txBody>
                  <a:tcPr marL="65281" marR="65281" marT="43635" marB="43635" anchor="ct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MX" sz="850" b="0" strike="noStrike" spc="-1" dirty="0">
                          <a:solidFill>
                            <a:srgbClr val="000000"/>
                          </a:solidFill>
                          <a:latin typeface="Lucida Fax" panose="02060602050505020204" pitchFamily="18" charset="0"/>
                          <a:ea typeface="Calibri"/>
                        </a:rPr>
                        <a:t>HORA PROGRAMADA: 12:00 HORAS </a:t>
                      </a:r>
                    </a:p>
                    <a:p>
                      <a:pPr algn="just">
                        <a:lnSpc>
                          <a:spcPct val="150000"/>
                        </a:lnSpc>
                        <a:tabLst>
                          <a:tab pos="0" algn="l"/>
                        </a:tabLst>
                      </a:pPr>
                      <a:r>
                        <a:rPr lang="es-MX" sz="850" b="0" strike="noStrike" spc="-1" dirty="0">
                          <a:solidFill>
                            <a:srgbClr val="000000"/>
                          </a:solidFill>
                          <a:latin typeface="Lucida Fax" panose="02060602050505020204" pitchFamily="18" charset="0"/>
                        </a:rPr>
                        <a:t>HORA DE INICIO: ---------------------------</a:t>
                      </a:r>
                      <a:endParaRPr lang="es-ES" sz="850" b="0" strike="noStrike" spc="-1" dirty="0">
                        <a:latin typeface="Lucida Fax" panose="02060602050505020204" pitchFamily="18" charset="0"/>
                      </a:endParaRPr>
                    </a:p>
                  </a:txBody>
                  <a:tcPr marL="65281" marR="65281" marT="43635" marB="43635" anchor="ctr">
                    <a:lnL w="12700" cap="flat" cmpd="sng" algn="ctr">
                      <a:solidFill>
                        <a:schemeClr val="tx1"/>
                      </a:solidFill>
                      <a:prstDash val="solid"/>
                      <a:round/>
                      <a:headEnd type="none" w="med" len="med"/>
                      <a:tailEnd type="none" w="med" len="med"/>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0">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CONTRA LA SALUD EN SU MODALIDAD DE POSESIÓN CON FINES DE SUMINISTRO DEL ESTUPEFACIENTE DENOMINADO MARIHUANA</a:t>
                      </a:r>
                    </a:p>
                  </a:txBody>
                  <a:tcPr marL="68400" marR="68400" anchor="ctr">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155827">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latin typeface="Lucida Fax" panose="02060602050505020204" pitchFamily="18" charset="0"/>
                        </a:rPr>
                        <a:t>JOSÉ SEBASTIÁN BRAVO GONZÁLEZ </a:t>
                      </a: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3"/>
                  </a:ext>
                </a:extLst>
              </a:tr>
              <a:tr h="136728">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spc="-1" dirty="0">
                          <a:latin typeface="Lucida Fax" panose="02060602050505020204" pitchFamily="18" charset="0"/>
                        </a:rPr>
                        <a:t>LA SOCIEDAD </a:t>
                      </a:r>
                      <a:endParaRPr lang="es-ES" sz="850" b="0" strike="noStrike" spc="-1" dirty="0">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4"/>
                  </a:ext>
                </a:extLst>
              </a:tr>
              <a:tr h="163128">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spc="-1" dirty="0">
                          <a:solidFill>
                            <a:schemeClr val="tx1"/>
                          </a:solidFill>
                          <a:latin typeface="Lucida Fax" panose="02060602050505020204" pitchFamily="18" charset="0"/>
                        </a:rPr>
                        <a:t>EL DÍA 28 DE JULIO DE 2022 </a:t>
                      </a:r>
                      <a:r>
                        <a:rPr lang="es-ES" sz="850" b="0" strike="noStrike" spc="-1" dirty="0">
                          <a:solidFill>
                            <a:srgbClr val="FF0000"/>
                          </a:solidFill>
                          <a:latin typeface="Lucida Fax" panose="02060602050505020204" pitchFamily="18" charset="0"/>
                        </a:rPr>
                        <a:t>LOS ELEMENTOS DE LA  AGENCIA ESTATAL DE INVESTIGACIÓN ADSCRITOS A LA UNIDAD DE APOYO POLICIAL DE SAN PEDRO CHOLULA, PUEBLA</a:t>
                      </a:r>
                      <a:r>
                        <a:rPr lang="es-ES" sz="850" b="0" strike="noStrike" spc="-1" baseline="0" dirty="0">
                          <a:solidFill>
                            <a:srgbClr val="FF0000"/>
                          </a:solidFill>
                          <a:latin typeface="Lucida Fax" panose="02060602050505020204" pitchFamily="18" charset="0"/>
                        </a:rPr>
                        <a:t>, </a:t>
                      </a:r>
                      <a:r>
                        <a:rPr lang="es-ES" sz="850" b="0" strike="noStrike" spc="-1" baseline="0" dirty="0">
                          <a:solidFill>
                            <a:schemeClr val="tx1"/>
                          </a:solidFill>
                          <a:latin typeface="Lucida Fax" panose="02060602050505020204" pitchFamily="18" charset="0"/>
                        </a:rPr>
                        <a:t>REALIZAN ASEGURAMIENTO DE LOS IMPUTADOS EN PRIMERA PRIVADA DE AVENIDA CENTRAL  DE LA PRIMERA SECCIÓN DE LA UNIDAD HABITACIONAL DE MISIONES DE SAN FRANCISCO PERTENECIENTE A LA JUNTA AUXILIAR DE SAN FRANCISCO OCOTLÁN DEL MUNICIPIO DE CORONANGO, CHOLULA PUEBLA, YA QUE AL ESTAR DE RECORRIDO SE PERCATAN CÓMO EL IMPUTADO MAX EMILIO MARÍN RAMÍREZ LE ENTREGABA A  </a:t>
                      </a:r>
                      <a:r>
                        <a:rPr lang="es-ES" sz="850" b="0" strike="noStrike" spc="-1" dirty="0">
                          <a:latin typeface="Lucida Fax" panose="02060602050505020204" pitchFamily="18" charset="0"/>
                        </a:rPr>
                        <a:t>JOSÉ SEBASTIÁN Y</a:t>
                      </a:r>
                      <a:r>
                        <a:rPr lang="es-ES" sz="850" b="0" strike="noStrike" spc="-1" baseline="0" dirty="0">
                          <a:latin typeface="Lucida Fax" panose="02060602050505020204" pitchFamily="18" charset="0"/>
                        </a:rPr>
                        <a:t> </a:t>
                      </a:r>
                      <a:r>
                        <a:rPr lang="es-ES" sz="850" b="0" strike="noStrike" spc="-1" baseline="0" dirty="0">
                          <a:solidFill>
                            <a:schemeClr val="tx1"/>
                          </a:solidFill>
                          <a:latin typeface="Lucida Fax" panose="02060602050505020204" pitchFamily="18" charset="0"/>
                        </a:rPr>
                        <a:t>OTRAS DOS PERSONAS UNAS BOLSAS TRANSPARENTES QUE CONTIENEN CADA UNA MARIHUANA.</a:t>
                      </a:r>
                      <a:endParaRPr lang="es-ES" sz="850" b="0" strike="noStrike" spc="-1" dirty="0">
                        <a:solidFill>
                          <a:schemeClr val="tx1"/>
                        </a:solidFill>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91010">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solidFill>
                            <a:srgbClr val="FF0000"/>
                          </a:solidFill>
                          <a:latin typeface="Lucida Fax" panose="02060602050505020204" pitchFamily="18" charset="0"/>
                        </a:rPr>
                        <a:t>REVISIÓN DE CONDICIONES</a:t>
                      </a:r>
                      <a:endParaRPr lang="es-ES" sz="850" b="0" strike="noStrike" spc="-1" dirty="0">
                        <a:solidFill>
                          <a:srgbClr val="FF0000"/>
                        </a:solidFill>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178349">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latin typeface="Lucida Fax" panose="02060602050505020204" pitchFamily="18" charset="0"/>
                        </a:rPr>
                        <a:t>KARLA IVONNE MUNGUIA OLMOS /   M.P. VERÓNICA GUZMÁN HERNÁNDEZ</a:t>
                      </a: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296211">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b="0" strike="noStrike" spc="-1" dirty="0">
                          <a:solidFill>
                            <a:srgbClr val="FF0000"/>
                          </a:solidFill>
                          <a:latin typeface="Lucida Fax" panose="02060602050505020204" pitchFamily="18" charset="0"/>
                        </a:rPr>
                        <a:t>NO SE PRESENTA IMPUTADO SE DECLARA SUSTRAÍDO DE LA ACCIÓN PENAL SE SUSPENDE PROCEDIMIENTO JUEZA OTORGA 3 DÍAS A MP PARA SOLICITAR MEDIO DE CONDUCCIÓN </a:t>
                      </a:r>
                      <a:endParaRPr lang="es-ES" sz="850" b="0" strike="noStrike" spc="-1" dirty="0">
                        <a:solidFill>
                          <a:srgbClr val="FF0000"/>
                        </a:solidFill>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199527">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r>
                        <a:rPr lang="es-MX" sz="850" b="0" strike="noStrike" spc="-1" dirty="0">
                          <a:latin typeface="Lucida Fax" panose="02060602050505020204" pitchFamily="18" charset="0"/>
                        </a:rPr>
                        <a:t>N/A</a:t>
                      </a:r>
                      <a:endParaRPr lang="es-ES" sz="850" b="0" strike="noStrike" spc="-1" dirty="0">
                        <a:latin typeface="Lucida Fax" panose="02060602050505020204" pitchFamily="18" charset="0"/>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11710">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PRESENCIAL</a:t>
                      </a:r>
                    </a:p>
                  </a:txBody>
                  <a:tcPr marL="68400" marR="68400" anchor="ct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20218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ustomShape 1"/>
          <p:cNvSpPr/>
          <p:nvPr/>
        </p:nvSpPr>
        <p:spPr>
          <a:xfrm>
            <a:off x="2476399" y="480030"/>
            <a:ext cx="3303169" cy="239121"/>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977" b="1" spc="-1">
                <a:solidFill>
                  <a:srgbClr val="A6A6A6"/>
                </a:solidFill>
                <a:latin typeface="Lucida Fax"/>
                <a:ea typeface="Calibri"/>
              </a:rPr>
              <a:t>FISCALIA DE INVESTIGACIÓN METROPOLITANA</a:t>
            </a:r>
            <a:endParaRPr lang="es-ES" sz="977" spc="-1">
              <a:solidFill>
                <a:prstClr val="black"/>
              </a:solidFill>
              <a:latin typeface="Arial"/>
            </a:endParaRPr>
          </a:p>
        </p:txBody>
      </p:sp>
      <p:sp>
        <p:nvSpPr>
          <p:cNvPr id="49" name="CustomShape 2"/>
          <p:cNvSpPr/>
          <p:nvPr/>
        </p:nvSpPr>
        <p:spPr>
          <a:xfrm>
            <a:off x="1773291" y="284485"/>
            <a:ext cx="4710088" cy="246639"/>
          </a:xfrm>
          <a:prstGeom prst="rect">
            <a:avLst/>
          </a:prstGeom>
          <a:noFill/>
          <a:ln w="0">
            <a:noFill/>
          </a:ln>
        </p:spPr>
        <p:style>
          <a:lnRef idx="0">
            <a:scrgbClr r="0" g="0" b="0"/>
          </a:lnRef>
          <a:fillRef idx="0">
            <a:scrgbClr r="0" g="0" b="0"/>
          </a:fillRef>
          <a:effectRef idx="0">
            <a:scrgbClr r="0" g="0" b="0"/>
          </a:effectRef>
          <a:fontRef idx="minor"/>
        </p:style>
        <p:txBody>
          <a:bodyPr wrap="none" lIns="87924" tIns="43962" rIns="87924" bIns="43962">
            <a:spAutoFit/>
          </a:bodyPr>
          <a:lstStyle/>
          <a:p>
            <a:pPr algn="ctr">
              <a:defRPr/>
            </a:pPr>
            <a:r>
              <a:rPr lang="es-MX" sz="1026" b="1" spc="-1">
                <a:solidFill>
                  <a:srgbClr val="A6A6A6"/>
                </a:solidFill>
                <a:latin typeface="Lucida Fax"/>
                <a:ea typeface="Calibri"/>
              </a:rPr>
              <a:t> </a:t>
            </a:r>
            <a:r>
              <a:rPr lang="es-MX" sz="977" b="1" spc="-1">
                <a:solidFill>
                  <a:srgbClr val="A6A6A6"/>
                </a:solidFill>
                <a:latin typeface="Lucida Fax"/>
                <a:ea typeface="Calibri"/>
              </a:rPr>
              <a:t>REPORTE DE PARTICIPACIÓN MINISTERIAL EN AUDIENCIA JUDICIAL</a:t>
            </a:r>
            <a:endParaRPr lang="es-ES" sz="977" spc="-1">
              <a:solidFill>
                <a:prstClr val="black"/>
              </a:solidFill>
              <a:latin typeface="Arial"/>
            </a:endParaRPr>
          </a:p>
        </p:txBody>
      </p:sp>
      <p:graphicFrame>
        <p:nvGraphicFramePr>
          <p:cNvPr id="5" name="Table 3">
            <a:extLst>
              <a:ext uri="{FF2B5EF4-FFF2-40B4-BE49-F238E27FC236}">
                <a16:creationId xmlns:a16="http://schemas.microsoft.com/office/drawing/2014/main" id="{42AA26C9-6C7A-5977-79F6-A452E8812083}"/>
              </a:ext>
            </a:extLst>
          </p:cNvPr>
          <p:cNvGraphicFramePr/>
          <p:nvPr>
            <p:extLst>
              <p:ext uri="{D42A27DB-BD31-4B8C-83A1-F6EECF244321}">
                <p14:modId xmlns:p14="http://schemas.microsoft.com/office/powerpoint/2010/main" val="2475662607"/>
              </p:ext>
            </p:extLst>
          </p:nvPr>
        </p:nvGraphicFramePr>
        <p:xfrm>
          <a:off x="240863" y="1142380"/>
          <a:ext cx="8648910" cy="3511509"/>
        </p:xfrm>
        <a:graphic>
          <a:graphicData uri="http://schemas.openxmlformats.org/drawingml/2006/table">
            <a:tbl>
              <a:tblPr/>
              <a:tblGrid>
                <a:gridCol w="1306583">
                  <a:extLst>
                    <a:ext uri="{9D8B030D-6E8A-4147-A177-3AD203B41FA5}">
                      <a16:colId xmlns:a16="http://schemas.microsoft.com/office/drawing/2014/main" val="20000"/>
                    </a:ext>
                  </a:extLst>
                </a:gridCol>
                <a:gridCol w="3860829">
                  <a:extLst>
                    <a:ext uri="{9D8B030D-6E8A-4147-A177-3AD203B41FA5}">
                      <a16:colId xmlns:a16="http://schemas.microsoft.com/office/drawing/2014/main" val="20001"/>
                    </a:ext>
                  </a:extLst>
                </a:gridCol>
                <a:gridCol w="3481498">
                  <a:extLst>
                    <a:ext uri="{9D8B030D-6E8A-4147-A177-3AD203B41FA5}">
                      <a16:colId xmlns:a16="http://schemas.microsoft.com/office/drawing/2014/main" val="20002"/>
                    </a:ext>
                  </a:extLst>
                </a:gridCol>
              </a:tblGrid>
              <a:tr h="279159">
                <a:tc>
                  <a:txBody>
                    <a:bodyPr/>
                    <a:lstStyle/>
                    <a:p>
                      <a:pPr algn="just">
                        <a:lnSpc>
                          <a:spcPct val="150000"/>
                        </a:lnSpc>
                      </a:pPr>
                      <a:r>
                        <a:rPr lang="es-MX" sz="850" b="1" strike="noStrike" spc="-1" dirty="0">
                          <a:solidFill>
                            <a:srgbClr val="000000"/>
                          </a:solidFill>
                          <a:latin typeface="Lucida Fax"/>
                          <a:ea typeface="Calibri"/>
                        </a:rPr>
                        <a:t>EXPEDIENTES </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50000"/>
                        </a:lnSpc>
                        <a:tabLst>
                          <a:tab pos="0" algn="l"/>
                        </a:tabLst>
                      </a:pPr>
                      <a:r>
                        <a:rPr lang="es-ES" sz="850" b="0" strike="noStrike" spc="-1" dirty="0">
                          <a:latin typeface="Lucida Fax" panose="02060602050505020204" pitchFamily="18" charset="0"/>
                        </a:rPr>
                        <a:t>CDI:</a:t>
                      </a:r>
                      <a:r>
                        <a:rPr lang="es-ES" sz="850" b="0" strike="noStrike" spc="-1" baseline="0" dirty="0">
                          <a:latin typeface="Lucida Fax" panose="02060602050505020204" pitchFamily="18" charset="0"/>
                        </a:rPr>
                        <a:t> </a:t>
                      </a:r>
                      <a:r>
                        <a:rPr lang="pt-BR" sz="850" b="0" strike="noStrike" spc="-1" baseline="0" dirty="0">
                          <a:latin typeface="Lucida Fax" panose="02060602050505020204" pitchFamily="18" charset="0"/>
                        </a:rPr>
                        <a:t>8048/2025</a:t>
                      </a:r>
                      <a:endParaRPr lang="es-ES" sz="850" b="0" strike="noStrike" kern="1200" spc="-1" dirty="0">
                        <a:solidFill>
                          <a:schemeClr val="tx1"/>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pPr algn="just">
                        <a:lnSpc>
                          <a:spcPct val="100000"/>
                        </a:lnSpc>
                        <a:tabLst>
                          <a:tab pos="0" algn="l"/>
                        </a:tabLst>
                      </a:pPr>
                      <a:r>
                        <a:rPr lang="es-MX" sz="850" b="0" strike="noStrike" spc="-1" dirty="0">
                          <a:solidFill>
                            <a:srgbClr val="000000"/>
                          </a:solidFill>
                          <a:latin typeface="Lucida Fax"/>
                          <a:ea typeface="Calibri"/>
                        </a:rPr>
                        <a:t>CP: 2067/2025/PUEBLA</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noFill/>
                  </a:tcPr>
                </a:tc>
                <a:extLst>
                  <a:ext uri="{0D108BD9-81ED-4DB2-BD59-A6C34878D82A}">
                    <a16:rowId xmlns:a16="http://schemas.microsoft.com/office/drawing/2014/main" val="10000"/>
                  </a:ext>
                </a:extLst>
              </a:tr>
              <a:tr h="342435">
                <a:tc>
                  <a:txBody>
                    <a:bodyPr/>
                    <a:lstStyle/>
                    <a:p>
                      <a:pPr algn="just">
                        <a:lnSpc>
                          <a:spcPct val="150000"/>
                        </a:lnSpc>
                        <a:tabLst>
                          <a:tab pos="0" algn="l"/>
                        </a:tabLst>
                      </a:pPr>
                      <a:r>
                        <a:rPr lang="es-MX" sz="850" b="1" strike="noStrike" spc="-1" dirty="0">
                          <a:solidFill>
                            <a:srgbClr val="000000"/>
                          </a:solidFill>
                          <a:latin typeface="Lucida Fax"/>
                          <a:ea typeface="Calibri"/>
                        </a:rPr>
                        <a:t>FECHA Y HORA</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a:txBody>
                    <a:bodyPr/>
                    <a:lstStyle/>
                    <a:p>
                      <a:pPr algn="just">
                        <a:lnSpc>
                          <a:spcPct val="100000"/>
                        </a:lnSpc>
                        <a:tabLst>
                          <a:tab pos="0" algn="l"/>
                        </a:tabLst>
                      </a:pPr>
                      <a:r>
                        <a:rPr lang="es-MX" sz="850" b="0" strike="noStrike" spc="-1" baseline="0" dirty="0">
                          <a:solidFill>
                            <a:srgbClr val="000000"/>
                          </a:solidFill>
                          <a:latin typeface="Lucida Fax" panose="02060602050505020204" pitchFamily="18" charset="0"/>
                          <a:ea typeface="Calibri"/>
                        </a:rPr>
                        <a:t>09 DE FEBRERO DE </a:t>
                      </a:r>
                      <a:r>
                        <a:rPr lang="es-MX" sz="850" b="0" strike="noStrike" spc="-1" dirty="0">
                          <a:solidFill>
                            <a:srgbClr val="000000"/>
                          </a:solidFill>
                          <a:latin typeface="Lucida Fax" panose="02060602050505020204" pitchFamily="18" charset="0"/>
                          <a:ea typeface="Calibri"/>
                        </a:rPr>
                        <a:t>2026</a:t>
                      </a:r>
                    </a:p>
                  </a:txBody>
                  <a:tcPr marL="68400" marR="68400">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l">
                        <a:lnSpc>
                          <a:spcPct val="100000"/>
                        </a:lnSpc>
                        <a:tabLst>
                          <a:tab pos="0" algn="l"/>
                        </a:tabLst>
                      </a:pPr>
                      <a:r>
                        <a:rPr lang="es-MX" sz="850" b="0" strike="noStrike" spc="-1" baseline="0" dirty="0">
                          <a:solidFill>
                            <a:srgbClr val="000000"/>
                          </a:solidFill>
                          <a:latin typeface="Lucida Fax" panose="02060602050505020204" pitchFamily="18" charset="0"/>
                          <a:ea typeface="Calibri"/>
                        </a:rPr>
                        <a:t>HORA PROGRAMADA: </a:t>
                      </a:r>
                      <a:r>
                        <a:rPr lang="es-US" sz="850" b="0" strike="noStrike" spc="-1" baseline="0" dirty="0">
                          <a:solidFill>
                            <a:srgbClr val="000000"/>
                          </a:solidFill>
                          <a:latin typeface="Lucida Fax" panose="02060602050505020204" pitchFamily="18" charset="0"/>
                          <a:ea typeface="Calibri"/>
                        </a:rPr>
                        <a:t> 12:00 HORAS</a:t>
                      </a:r>
                      <a:endParaRPr lang="es-MX" sz="850" b="0" strike="noStrike" spc="-1" baseline="0" dirty="0">
                        <a:solidFill>
                          <a:srgbClr val="000000"/>
                        </a:solidFill>
                        <a:latin typeface="Lucida Fax" panose="02060602050505020204" pitchFamily="18" charset="0"/>
                        <a:ea typeface="Calibri"/>
                      </a:endParaRPr>
                    </a:p>
                    <a:p>
                      <a:pPr algn="l">
                        <a:lnSpc>
                          <a:spcPct val="100000"/>
                        </a:lnSpc>
                        <a:tabLst>
                          <a:tab pos="0" algn="l"/>
                        </a:tabLst>
                      </a:pPr>
                      <a:r>
                        <a:rPr lang="es-MX" sz="850" b="0" strike="noStrike" spc="-1" dirty="0">
                          <a:solidFill>
                            <a:srgbClr val="000000"/>
                          </a:solidFill>
                          <a:latin typeface="Lucida Fax" panose="02060602050505020204" pitchFamily="18" charset="0"/>
                          <a:ea typeface="Calibri"/>
                        </a:rPr>
                        <a:t>HORA INICIO:  12:00  HORAS</a:t>
                      </a:r>
                    </a:p>
                  </a:txBody>
                  <a:tcPr marL="68400" marR="68400">
                    <a:lnL w="12240" cap="flat" cmpd="sng" algn="ctr">
                      <a:solidFill>
                        <a:srgbClr val="000000"/>
                      </a:solidFill>
                      <a:prstDash val="solid"/>
                      <a:round/>
                      <a:headEnd type="none" w="med" len="med"/>
                      <a:tailEnd type="none" w="med" len="med"/>
                    </a:lnL>
                    <a:solidFill>
                      <a:schemeClr val="bg1"/>
                    </a:solidFill>
                  </a:tcPr>
                </a:tc>
                <a:extLst>
                  <a:ext uri="{0D108BD9-81ED-4DB2-BD59-A6C34878D82A}">
                    <a16:rowId xmlns:a16="http://schemas.microsoft.com/office/drawing/2014/main" val="10001"/>
                  </a:ext>
                </a:extLst>
              </a:tr>
              <a:tr h="279159">
                <a:tc>
                  <a:txBody>
                    <a:bodyPr/>
                    <a:lstStyle/>
                    <a:p>
                      <a:pPr algn="just">
                        <a:lnSpc>
                          <a:spcPct val="150000"/>
                        </a:lnSpc>
                      </a:pPr>
                      <a:r>
                        <a:rPr lang="es-MX" sz="850" b="1" strike="noStrike" spc="-1" dirty="0">
                          <a:solidFill>
                            <a:srgbClr val="000000"/>
                          </a:solidFill>
                          <a:latin typeface="Lucida Fax"/>
                          <a:ea typeface="Calibri"/>
                        </a:rPr>
                        <a:t>DELITO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MX" sz="850" b="0" strike="noStrike" kern="1200" spc="-1" dirty="0">
                          <a:solidFill>
                            <a:srgbClr val="000000"/>
                          </a:solidFill>
                          <a:latin typeface="Lucida Fax" panose="02060602050505020204" pitchFamily="18" charset="0"/>
                          <a:ea typeface="Calibri"/>
                          <a:cs typeface="+mn-cs"/>
                        </a:rPr>
                        <a:t>RESISTENCIA DE PARTICULARES</a:t>
                      </a:r>
                      <a:endParaRPr lang="es-ES" sz="850" b="0" strike="noStrike" kern="1200" spc="-1" dirty="0">
                        <a:solidFill>
                          <a:srgbClr val="000000"/>
                        </a:solidFill>
                        <a:latin typeface="Lucida Fax" panose="02060602050505020204" pitchFamily="18" charset="0"/>
                        <a:ea typeface="Calibri"/>
                        <a:cs typeface="+mn-cs"/>
                      </a:endParaRPr>
                    </a:p>
                  </a:txBody>
                  <a:tcPr marL="66822" marR="66822" marT="44665" marB="44665">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2"/>
                  </a:ext>
                </a:extLst>
              </a:tr>
              <a:tr h="279159">
                <a:tc>
                  <a:txBody>
                    <a:bodyPr/>
                    <a:lstStyle/>
                    <a:p>
                      <a:pPr algn="just">
                        <a:lnSpc>
                          <a:spcPct val="150000"/>
                        </a:lnSpc>
                      </a:pPr>
                      <a:r>
                        <a:rPr lang="es-MX" sz="850" b="1" strike="noStrike" spc="-1" dirty="0">
                          <a:solidFill>
                            <a:srgbClr val="000000"/>
                          </a:solidFill>
                          <a:latin typeface="Lucida Fax"/>
                          <a:ea typeface="Calibri"/>
                        </a:rPr>
                        <a:t>IMPUTADO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ES" sz="850" b="0" strike="noStrike" kern="1200" spc="-1" dirty="0">
                          <a:solidFill>
                            <a:srgbClr val="000000"/>
                          </a:solidFill>
                          <a:latin typeface="Lucida Fax" panose="02060602050505020204" pitchFamily="18" charset="0"/>
                          <a:ea typeface="Calibri"/>
                          <a:cs typeface="+mn-cs"/>
                        </a:rPr>
                        <a:t>GUADALUPE ZARATE PEREZ</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3"/>
                  </a:ext>
                </a:extLst>
              </a:tr>
              <a:tr h="279159">
                <a:tc>
                  <a:txBody>
                    <a:bodyPr/>
                    <a:lstStyle/>
                    <a:p>
                      <a:pPr algn="just">
                        <a:lnSpc>
                          <a:spcPct val="150000"/>
                        </a:lnSpc>
                      </a:pPr>
                      <a:r>
                        <a:rPr lang="es-MX" sz="850" b="1" strike="noStrike" spc="-1" dirty="0">
                          <a:solidFill>
                            <a:srgbClr val="000000"/>
                          </a:solidFill>
                          <a:latin typeface="Lucida Fax"/>
                          <a:ea typeface="Calibri"/>
                        </a:rPr>
                        <a:t>OFENDIDO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a:lnSpc>
                          <a:spcPct val="150000"/>
                        </a:lnSpc>
                      </a:pPr>
                      <a:r>
                        <a:rPr lang="es-ES" sz="850" b="0" strike="noStrike" kern="1200" spc="-1" dirty="0">
                          <a:solidFill>
                            <a:srgbClr val="000000"/>
                          </a:solidFill>
                          <a:latin typeface="Lucida Fax" panose="02060602050505020204" pitchFamily="18" charset="0"/>
                          <a:ea typeface="Calibri"/>
                          <a:cs typeface="+mn-cs"/>
                        </a:rPr>
                        <a:t>LA SOCIEDAD</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dirty="0"/>
                    </a:p>
                  </a:txBody>
                  <a:tcPr marL="90000" marR="90000">
                    <a:solidFill>
                      <a:srgbClr val="729FCF"/>
                    </a:solidFill>
                  </a:tcPr>
                </a:tc>
                <a:extLst>
                  <a:ext uri="{0D108BD9-81ED-4DB2-BD59-A6C34878D82A}">
                    <a16:rowId xmlns:a16="http://schemas.microsoft.com/office/drawing/2014/main" val="10004"/>
                  </a:ext>
                </a:extLst>
              </a:tr>
              <a:tr h="658815">
                <a:tc>
                  <a:txBody>
                    <a:bodyPr/>
                    <a:lstStyle/>
                    <a:p>
                      <a:pPr algn="just">
                        <a:lnSpc>
                          <a:spcPct val="150000"/>
                        </a:lnSpc>
                      </a:pPr>
                      <a:r>
                        <a:rPr lang="es-MX" sz="850" b="1" strike="noStrike" spc="-1" dirty="0">
                          <a:solidFill>
                            <a:srgbClr val="000000"/>
                          </a:solidFill>
                          <a:latin typeface="Lucida Fax"/>
                          <a:ea typeface="Calibri"/>
                        </a:rPr>
                        <a:t>HECHO</a:t>
                      </a:r>
                      <a:endParaRPr lang="es-ES" sz="850" b="0" strike="noStrike" spc="-1" dirty="0">
                        <a:latin typeface="Arial"/>
                      </a:endParaRPr>
                    </a:p>
                  </a:txBody>
                  <a:tcPr marL="66822" marR="66822" marT="44665" marB="44665">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ES" sz="850" b="0" strike="noStrike" kern="1200" spc="-1" dirty="0">
                          <a:solidFill>
                            <a:schemeClr val="tx1"/>
                          </a:solidFill>
                          <a:latin typeface="Lucida Fax" panose="02060602050505020204" pitchFamily="18" charset="0"/>
                          <a:ea typeface="+mn-ea"/>
                          <a:cs typeface="+mn-cs"/>
                        </a:rPr>
                        <a:t>EL </a:t>
                      </a:r>
                      <a:r>
                        <a:rPr lang="es-ES" sz="850" b="0" strike="noStrike" kern="1200" spc="-1">
                          <a:solidFill>
                            <a:schemeClr val="tx1"/>
                          </a:solidFill>
                          <a:latin typeface="Lucida Fax" panose="02060602050505020204" pitchFamily="18" charset="0"/>
                          <a:ea typeface="+mn-ea"/>
                          <a:cs typeface="+mn-cs"/>
                        </a:rPr>
                        <a:t>IMPUTADO ESTABA TOMANDO EN VÍA PUBLICA Y OPUSO A LA DETENCIÓN.</a:t>
                      </a:r>
                      <a:endParaRPr lang="es-ES" sz="850" b="0" strike="noStrike" kern="1200" spc="-1" dirty="0">
                        <a:solidFill>
                          <a:schemeClr val="tx1"/>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5"/>
                  </a:ext>
                </a:extLst>
              </a:tr>
              <a:tr h="279159">
                <a:tc>
                  <a:txBody>
                    <a:bodyPr/>
                    <a:lstStyle/>
                    <a:p>
                      <a:pPr algn="just">
                        <a:lnSpc>
                          <a:spcPct val="150000"/>
                        </a:lnSpc>
                      </a:pPr>
                      <a:r>
                        <a:rPr lang="es-MX" sz="850" b="1" strike="noStrike" spc="-1" dirty="0">
                          <a:solidFill>
                            <a:srgbClr val="000000"/>
                          </a:solidFill>
                          <a:latin typeface="Lucida Fax"/>
                          <a:ea typeface="Calibri"/>
                        </a:rPr>
                        <a:t>TIPO DE AUDIENCIA</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r>
                        <a:rPr lang="es-ES" sz="850" b="0" strike="noStrike" spc="-1" dirty="0">
                          <a:solidFill>
                            <a:srgbClr val="FF0000"/>
                          </a:solidFill>
                          <a:latin typeface="Lucida Fax" panose="02060602050505020204" pitchFamily="18" charset="0"/>
                        </a:rPr>
                        <a:t>SUSPENSIÓN CONDICIONAL</a:t>
                      </a:r>
                    </a:p>
                  </a:txBody>
                  <a:tcPr marL="66822" marR="66822" marT="44665" marB="44665">
                    <a:lnL w="12240">
                      <a:solidFill>
                        <a:srgbClr val="000000"/>
                      </a:solidFill>
                    </a:lnL>
                    <a:lnR w="12240">
                      <a:solidFill>
                        <a:srgbClr val="000000"/>
                      </a:solidFill>
                    </a:lnR>
                    <a:lnT w="12240" cap="flat" cmpd="sng" algn="ctr">
                      <a:solidFill>
                        <a:srgbClr val="000000"/>
                      </a:solidFill>
                      <a:prstDash val="solid"/>
                      <a:round/>
                      <a:headEnd type="none" w="med" len="med"/>
                      <a:tailEnd type="none" w="med" len="med"/>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6"/>
                  </a:ext>
                </a:extLst>
              </a:tr>
              <a:tr h="279159">
                <a:tc>
                  <a:txBody>
                    <a:bodyPr/>
                    <a:lstStyle/>
                    <a:p>
                      <a:pPr algn="just">
                        <a:lnSpc>
                          <a:spcPct val="150000"/>
                        </a:lnSpc>
                      </a:pPr>
                      <a:r>
                        <a:rPr lang="es-MX" sz="850" b="1" strike="noStrike" spc="-1" dirty="0">
                          <a:solidFill>
                            <a:srgbClr val="000000"/>
                          </a:solidFill>
                          <a:latin typeface="Lucida Fax"/>
                          <a:ea typeface="Calibri"/>
                        </a:rPr>
                        <a:t>JUEZ</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MX" sz="850" kern="1200" dirty="0">
                          <a:solidFill>
                            <a:schemeClr val="tx1"/>
                          </a:solidFill>
                          <a:effectLst/>
                          <a:latin typeface="Lucida Fax" panose="02060602050505020204" pitchFamily="18" charset="0"/>
                          <a:ea typeface="+mn-ea"/>
                          <a:cs typeface="+mn-cs"/>
                        </a:rPr>
                        <a:t>ABOG. BED NIMRA HERNANDEZ</a:t>
                      </a:r>
                      <a:r>
                        <a:rPr lang="es-MX" sz="850" kern="1200" baseline="0" dirty="0">
                          <a:solidFill>
                            <a:schemeClr val="tx1"/>
                          </a:solidFill>
                          <a:effectLst/>
                          <a:latin typeface="Lucida Fax" panose="02060602050505020204" pitchFamily="18" charset="0"/>
                          <a:ea typeface="+mn-ea"/>
                          <a:cs typeface="+mn-cs"/>
                        </a:rPr>
                        <a:t> </a:t>
                      </a:r>
                      <a:r>
                        <a:rPr lang="es-ES" sz="850" b="0" strike="noStrike" spc="-1" dirty="0">
                          <a:latin typeface="Lucida Fax" panose="02060602050505020204" pitchFamily="18" charset="0"/>
                        </a:rPr>
                        <a:t>MP</a:t>
                      </a:r>
                      <a:r>
                        <a:rPr lang="es-ES" sz="850" b="0" strike="noStrike" spc="-1" baseline="0" dirty="0">
                          <a:latin typeface="Lucida Fax" panose="02060602050505020204" pitchFamily="18" charset="0"/>
                        </a:rPr>
                        <a:t>:  DR. ABRAHAM AGUILAR YAÑEZ ABOG. MARIA DE LA SOLEDAD MORA MORALES</a:t>
                      </a:r>
                      <a:endParaRPr lang="es-ES" sz="850" b="0" strike="noStrike" spc="-1" dirty="0">
                        <a:latin typeface="Lucida Fax" panose="02060602050505020204" pitchFamily="18" charset="0"/>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7"/>
                  </a:ext>
                </a:extLst>
              </a:tr>
              <a:tr h="268902">
                <a:tc>
                  <a:txBody>
                    <a:bodyPr/>
                    <a:lstStyle/>
                    <a:p>
                      <a:pPr algn="just">
                        <a:lnSpc>
                          <a:spcPct val="150000"/>
                        </a:lnSpc>
                      </a:pPr>
                      <a:r>
                        <a:rPr lang="es-MX" sz="850" b="1" strike="noStrike" spc="-1" dirty="0">
                          <a:solidFill>
                            <a:srgbClr val="000000"/>
                          </a:solidFill>
                          <a:latin typeface="Lucida Fax"/>
                          <a:ea typeface="Calibri"/>
                        </a:rPr>
                        <a:t>RESULTADO</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tab pos="0" algn="l"/>
                        </a:tabLst>
                        <a:defRPr/>
                      </a:pPr>
                      <a:r>
                        <a:rPr lang="es-MX" sz="850" b="0" strike="noStrike" kern="1200" spc="-1" dirty="0">
                          <a:solidFill>
                            <a:srgbClr val="FF0000"/>
                          </a:solidFill>
                          <a:latin typeface="Lucida Fax" panose="02060602050505020204" pitchFamily="18" charset="0"/>
                          <a:ea typeface="+mn-ea"/>
                          <a:cs typeface="+mn-cs"/>
                        </a:rPr>
                        <a:t>SE DIFIERE AUDIENCIA POR CARGA DE TRABAJO DEL JUZGADO</a:t>
                      </a:r>
                      <a:endParaRPr lang="es-ES" sz="850" b="0" strike="noStrike" kern="1200" spc="-1" dirty="0">
                        <a:solidFill>
                          <a:srgbClr val="FF0000"/>
                        </a:solidFill>
                        <a:latin typeface="Lucida Fax" panose="02060602050505020204" pitchFamily="18" charset="0"/>
                        <a:ea typeface="+mn-ea"/>
                        <a:cs typeface="+mn-cs"/>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8"/>
                  </a:ext>
                </a:extLst>
              </a:tr>
              <a:tr h="279159">
                <a:tc>
                  <a:txBody>
                    <a:bodyPr/>
                    <a:lstStyle/>
                    <a:p>
                      <a:pPr algn="just">
                        <a:lnSpc>
                          <a:spcPct val="150000"/>
                        </a:lnSpc>
                      </a:pPr>
                      <a:r>
                        <a:rPr lang="es-MX" sz="850" b="1" strike="noStrike" spc="-1" dirty="0">
                          <a:solidFill>
                            <a:srgbClr val="000000"/>
                          </a:solidFill>
                          <a:latin typeface="Lucida Fax"/>
                          <a:ea typeface="Calibri"/>
                        </a:rPr>
                        <a:t>MEDIDA CAUTELAR</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pPr>
                      <a:endParaRPr lang="es-ES" sz="850" b="0" strike="noStrike" spc="-1" dirty="0">
                        <a:latin typeface="Lucida Fax" panose="02060602050505020204" pitchFamily="18" charset="0"/>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09"/>
                  </a:ext>
                </a:extLst>
              </a:tr>
              <a:tr h="279159">
                <a:tc>
                  <a:txBody>
                    <a:bodyPr/>
                    <a:lstStyle/>
                    <a:p>
                      <a:pPr algn="just">
                        <a:lnSpc>
                          <a:spcPct val="150000"/>
                        </a:lnSpc>
                      </a:pPr>
                      <a:r>
                        <a:rPr lang="es-MX" sz="850" b="1" strike="noStrike" spc="-1" dirty="0">
                          <a:solidFill>
                            <a:srgbClr val="000000"/>
                          </a:solidFill>
                          <a:latin typeface="Lucida Fax"/>
                          <a:ea typeface="Calibri"/>
                        </a:rPr>
                        <a:t>OBSERVACIONES</a:t>
                      </a:r>
                      <a:endParaRPr lang="es-ES" sz="850" b="0" strike="noStrike" spc="-1" dirty="0">
                        <a:latin typeface="Arial"/>
                      </a:endParaRP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gridSpan="2">
                  <a:txBody>
                    <a:bodyPr/>
                    <a:lstStyle/>
                    <a:p>
                      <a:pPr algn="just">
                        <a:lnSpc>
                          <a:spcPct val="150000"/>
                        </a:lnSpc>
                        <a:tabLst>
                          <a:tab pos="0" algn="l"/>
                        </a:tabLst>
                      </a:pPr>
                      <a:r>
                        <a:rPr lang="es-ES" sz="850" b="0" strike="noStrike" spc="-1" dirty="0">
                          <a:solidFill>
                            <a:srgbClr val="FF0000"/>
                          </a:solidFill>
                          <a:latin typeface="Lucida Fax" panose="02060602050505020204" pitchFamily="18" charset="0"/>
                        </a:rPr>
                        <a:t>PRESENCIAL</a:t>
                      </a:r>
                    </a:p>
                  </a:txBody>
                  <a:tcPr marL="66822" marR="66822" marT="44665" marB="44665">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es-MX"/>
                    </a:p>
                  </a:txBody>
                  <a:tcPr marL="90000" marR="90000">
                    <a:solidFill>
                      <a:srgbClr val="729FCF"/>
                    </a:solidFill>
                  </a:tcPr>
                </a:tc>
                <a:extLst>
                  <a:ext uri="{0D108BD9-81ED-4DB2-BD59-A6C34878D82A}">
                    <a16:rowId xmlns:a16="http://schemas.microsoft.com/office/drawing/2014/main" val="10010"/>
                  </a:ext>
                </a:extLst>
              </a:tr>
            </a:tbl>
          </a:graphicData>
        </a:graphic>
      </p:graphicFrame>
      <p:pic>
        <p:nvPicPr>
          <p:cNvPr id="7" name="Imagen 6" descr="Fiscalia-logo"/>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6487" y="258367"/>
            <a:ext cx="1596617" cy="460784"/>
          </a:xfrm>
          <a:prstGeom prst="rect">
            <a:avLst/>
          </a:prstGeom>
          <a:noFill/>
          <a:ln>
            <a:noFill/>
          </a:ln>
        </p:spPr>
      </p:pic>
      <p:pic>
        <p:nvPicPr>
          <p:cNvPr id="6" name="Imagen 7"/>
          <p:cNvPicPr/>
          <p:nvPr/>
        </p:nvPicPr>
        <p:blipFill>
          <a:blip r:embed="rId4"/>
          <a:srcRect l="34124" t="9793" r="33383" b="9458"/>
          <a:stretch/>
        </p:blipFill>
        <p:spPr>
          <a:xfrm>
            <a:off x="385070" y="283792"/>
            <a:ext cx="514440" cy="552960"/>
          </a:xfrm>
          <a:prstGeom prst="rect">
            <a:avLst/>
          </a:prstGeom>
          <a:ln w="0">
            <a:noFill/>
          </a:ln>
        </p:spPr>
      </p:pic>
    </p:spTree>
    <p:extLst>
      <p:ext uri="{BB962C8B-B14F-4D97-AF65-F5344CB8AC3E}">
        <p14:creationId xmlns:p14="http://schemas.microsoft.com/office/powerpoint/2010/main" val="293839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CustomShape 1"/>
          <p:cNvSpPr/>
          <p:nvPr/>
        </p:nvSpPr>
        <p:spPr>
          <a:xfrm>
            <a:off x="2501640" y="479880"/>
            <a:ext cx="3251160" cy="234720"/>
          </a:xfrm>
          <a:prstGeom prst="rect">
            <a:avLst/>
          </a:prstGeom>
          <a:noFill/>
          <a:ln w="0">
            <a:noFill/>
          </a:ln>
        </p:spPr>
        <p:style>
          <a:lnRef idx="0">
            <a:scrgbClr r="0" g="0" b="0"/>
          </a:lnRef>
          <a:fillRef idx="0">
            <a:scrgbClr r="0" g="0" b="0"/>
          </a:fillRef>
          <a:effectRef idx="0">
            <a:scrgbClr r="0" g="0" b="0"/>
          </a:effectRef>
          <a:fontRef idx="minor"/>
        </p:style>
        <p:txBody>
          <a:bodyPr wrap="none" lIns="87840" tIns="43920" rIns="87840" bIns="43920" anchor="t">
            <a:spAutoFit/>
          </a:bodyPr>
          <a:lstStyle/>
          <a:p>
            <a:pPr algn="ctr">
              <a:lnSpc>
                <a:spcPct val="100000"/>
              </a:lnSpc>
            </a:pPr>
            <a:r>
              <a:rPr lang="es-MX" sz="980" b="1" u="none" strike="noStrike">
                <a:solidFill>
                  <a:srgbClr val="A6A6A6"/>
                </a:solidFill>
                <a:effectLst/>
                <a:uFillTx/>
                <a:latin typeface="Lucida Fax"/>
                <a:ea typeface="Calibri"/>
              </a:rPr>
              <a:t>FISCALIA DE INVESTIGACIÓN METROPOLITANA</a:t>
            </a:r>
            <a:endParaRPr lang="es-ES" sz="980" b="0" u="none" strike="noStrike">
              <a:solidFill>
                <a:srgbClr val="000000"/>
              </a:solidFill>
              <a:effectLst/>
              <a:uFillTx/>
              <a:latin typeface="Arial"/>
            </a:endParaRPr>
          </a:p>
        </p:txBody>
      </p:sp>
      <p:sp>
        <p:nvSpPr>
          <p:cNvPr id="41" name="CustomShape 2"/>
          <p:cNvSpPr/>
          <p:nvPr/>
        </p:nvSpPr>
        <p:spPr>
          <a:xfrm>
            <a:off x="1810080" y="284400"/>
            <a:ext cx="4635000" cy="242640"/>
          </a:xfrm>
          <a:prstGeom prst="rect">
            <a:avLst/>
          </a:prstGeom>
          <a:noFill/>
          <a:ln w="0">
            <a:noFill/>
          </a:ln>
        </p:spPr>
        <p:style>
          <a:lnRef idx="0">
            <a:scrgbClr r="0" g="0" b="0"/>
          </a:lnRef>
          <a:fillRef idx="0">
            <a:scrgbClr r="0" g="0" b="0"/>
          </a:fillRef>
          <a:effectRef idx="0">
            <a:scrgbClr r="0" g="0" b="0"/>
          </a:effectRef>
          <a:fontRef idx="minor"/>
        </p:style>
        <p:txBody>
          <a:bodyPr wrap="none" lIns="87840" tIns="43920" rIns="87840" bIns="43920" anchor="t">
            <a:spAutoFit/>
          </a:bodyPr>
          <a:lstStyle/>
          <a:p>
            <a:pPr algn="ctr">
              <a:lnSpc>
                <a:spcPct val="100000"/>
              </a:lnSpc>
            </a:pPr>
            <a:r>
              <a:rPr lang="es-MX" sz="1030" b="1" u="none" strike="noStrike">
                <a:solidFill>
                  <a:srgbClr val="A6A6A6"/>
                </a:solidFill>
                <a:effectLst/>
                <a:uFillTx/>
                <a:latin typeface="Lucida Fax"/>
                <a:ea typeface="Calibri"/>
              </a:rPr>
              <a:t> </a:t>
            </a:r>
            <a:r>
              <a:rPr lang="es-MX" sz="980" b="1" u="none" strike="noStrike">
                <a:solidFill>
                  <a:srgbClr val="A6A6A6"/>
                </a:solidFill>
                <a:effectLst/>
                <a:uFillTx/>
                <a:latin typeface="Lucida Fax"/>
                <a:ea typeface="Calibri"/>
              </a:rPr>
              <a:t>REPORTE DE PARTICIPACIÓN MINISTERIAL EN AUDIENCIA JUDICIAL</a:t>
            </a:r>
            <a:endParaRPr lang="es-ES" sz="980" b="0" u="none" strike="noStrike">
              <a:solidFill>
                <a:srgbClr val="000000"/>
              </a:solidFill>
              <a:effectLst/>
              <a:uFillTx/>
              <a:latin typeface="Arial"/>
            </a:endParaRPr>
          </a:p>
        </p:txBody>
      </p:sp>
      <p:graphicFrame>
        <p:nvGraphicFramePr>
          <p:cNvPr id="42" name="Table 3"/>
          <p:cNvGraphicFramePr/>
          <p:nvPr/>
        </p:nvGraphicFramePr>
        <p:xfrm>
          <a:off x="240840" y="1142280"/>
          <a:ext cx="8648280" cy="4237920"/>
        </p:xfrm>
        <a:graphic>
          <a:graphicData uri="http://schemas.openxmlformats.org/drawingml/2006/table">
            <a:tbl>
              <a:tblPr/>
              <a:tblGrid>
                <a:gridCol w="1306440">
                  <a:extLst>
                    <a:ext uri="{9D8B030D-6E8A-4147-A177-3AD203B41FA5}">
                      <a16:colId xmlns:a16="http://schemas.microsoft.com/office/drawing/2014/main" val="20000"/>
                    </a:ext>
                  </a:extLst>
                </a:gridCol>
                <a:gridCol w="3860640">
                  <a:extLst>
                    <a:ext uri="{9D8B030D-6E8A-4147-A177-3AD203B41FA5}">
                      <a16:colId xmlns:a16="http://schemas.microsoft.com/office/drawing/2014/main" val="20001"/>
                    </a:ext>
                  </a:extLst>
                </a:gridCol>
                <a:gridCol w="3481200">
                  <a:extLst>
                    <a:ext uri="{9D8B030D-6E8A-4147-A177-3AD203B41FA5}">
                      <a16:colId xmlns:a16="http://schemas.microsoft.com/office/drawing/2014/main" val="20002"/>
                    </a:ext>
                  </a:extLst>
                </a:gridCol>
              </a:tblGrid>
              <a:tr h="279000">
                <a:tc>
                  <a:txBody>
                    <a:bodyPr/>
                    <a:lstStyle/>
                    <a:p>
                      <a:pPr algn="just">
                        <a:lnSpc>
                          <a:spcPct val="150000"/>
                        </a:lnSpc>
                      </a:pPr>
                      <a:r>
                        <a:rPr lang="es-MX" sz="850" b="1" u="none" strike="noStrike">
                          <a:solidFill>
                            <a:srgbClr val="000000"/>
                          </a:solidFill>
                          <a:effectLst/>
                          <a:uFillTx/>
                          <a:latin typeface="Lucida Fax"/>
                          <a:ea typeface="Calibri"/>
                        </a:rPr>
                        <a:t>EXPEDIENTES </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just">
                        <a:lnSpc>
                          <a:spcPct val="150000"/>
                        </a:lnSpc>
                        <a:tabLst>
                          <a:tab pos="0" algn="l"/>
                        </a:tabLst>
                      </a:pPr>
                      <a:r>
                        <a:rPr lang="es-ES" sz="850" b="0" u="none" strike="noStrike">
                          <a:solidFill>
                            <a:srgbClr val="000000"/>
                          </a:solidFill>
                          <a:effectLst/>
                          <a:uFillTx/>
                          <a:latin typeface="Lucida Fax"/>
                          <a:ea typeface="DejaVu Sans"/>
                        </a:rPr>
                        <a:t>CDI: FGEP/CDI/FIM/CUAUTLAN-/022443/2021</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just">
                        <a:lnSpc>
                          <a:spcPct val="100000"/>
                        </a:lnSpc>
                        <a:tabLst>
                          <a:tab pos="0" algn="l"/>
                        </a:tabLst>
                      </a:pPr>
                      <a:r>
                        <a:rPr lang="es-MX" sz="850" b="0" u="none" strike="noStrike">
                          <a:solidFill>
                            <a:srgbClr val="000000"/>
                          </a:solidFill>
                          <a:effectLst/>
                          <a:uFillTx/>
                          <a:latin typeface="Lucida Fax"/>
                          <a:ea typeface="Calibri"/>
                        </a:rPr>
                        <a:t>CP:  477/2023/CHOLULA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noFill/>
                      <a:prstDash val="solid"/>
                    </a:lnB>
                    <a:noFill/>
                  </a:tcPr>
                </a:tc>
                <a:extLst>
                  <a:ext uri="{0D108BD9-81ED-4DB2-BD59-A6C34878D82A}">
                    <a16:rowId xmlns:a16="http://schemas.microsoft.com/office/drawing/2014/main" val="10000"/>
                  </a:ext>
                </a:extLst>
              </a:tr>
              <a:tr h="342360">
                <a:tc>
                  <a:txBody>
                    <a:bodyPr/>
                    <a:lstStyle/>
                    <a:p>
                      <a:pPr algn="just">
                        <a:lnSpc>
                          <a:spcPct val="150000"/>
                        </a:lnSpc>
                        <a:tabLst>
                          <a:tab pos="0" algn="l"/>
                        </a:tabLst>
                      </a:pPr>
                      <a:r>
                        <a:rPr lang="es-MX" sz="850" b="1" u="none" strike="noStrike">
                          <a:solidFill>
                            <a:srgbClr val="000000"/>
                          </a:solidFill>
                          <a:effectLst/>
                          <a:uFillTx/>
                          <a:latin typeface="Lucida Fax"/>
                          <a:ea typeface="Calibri"/>
                        </a:rPr>
                        <a:t>FECHA Y HORA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just">
                        <a:lnSpc>
                          <a:spcPct val="100000"/>
                        </a:lnSpc>
                        <a:tabLst>
                          <a:tab pos="0" algn="l"/>
                        </a:tabLst>
                      </a:pPr>
                      <a:r>
                        <a:rPr lang="es-MX" sz="850" b="0" u="none" strike="noStrike">
                          <a:solidFill>
                            <a:srgbClr val="000000"/>
                          </a:solidFill>
                          <a:effectLst/>
                          <a:uFillTx/>
                          <a:latin typeface="Lucida Fax"/>
                          <a:ea typeface="Calibri"/>
                        </a:rPr>
                        <a:t>09 de febrero de 2026</a:t>
                      </a:r>
                      <a:endParaRPr lang="es-ES" sz="850" b="0" u="none" strike="noStrike">
                        <a:solidFill>
                          <a:srgbClr val="000000"/>
                        </a:solidFill>
                        <a:effectLst/>
                        <a:uFillTx/>
                        <a:latin typeface="Arial"/>
                      </a:endParaRPr>
                    </a:p>
                  </a:txBody>
                  <a:tcP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tabLst>
                          <a:tab pos="0" algn="l"/>
                        </a:tabLst>
                      </a:pPr>
                      <a:r>
                        <a:rPr lang="es-MX" sz="850" b="0" u="none" strike="noStrike">
                          <a:solidFill>
                            <a:srgbClr val="000000"/>
                          </a:solidFill>
                          <a:effectLst/>
                          <a:uFillTx/>
                          <a:latin typeface="Lucida Fax"/>
                          <a:ea typeface="Calibri"/>
                        </a:rPr>
                        <a:t>HORA PROGRAMADA: 13:30</a:t>
                      </a:r>
                      <a:r>
                        <a:rPr lang="es-US" sz="850" b="0" u="none" strike="noStrike">
                          <a:solidFill>
                            <a:srgbClr val="000000"/>
                          </a:solidFill>
                          <a:effectLst/>
                          <a:uFillTx/>
                          <a:latin typeface="Lucida Fax"/>
                          <a:ea typeface="Calibri"/>
                        </a:rPr>
                        <a:t> HORAS</a:t>
                      </a:r>
                      <a:endParaRPr lang="es-ES" sz="850" b="0" u="none" strike="noStrike">
                        <a:solidFill>
                          <a:srgbClr val="000000"/>
                        </a:solidFill>
                        <a:effectLst/>
                        <a:uFillTx/>
                        <a:latin typeface="Arial"/>
                      </a:endParaRPr>
                    </a:p>
                    <a:p>
                      <a:pPr>
                        <a:lnSpc>
                          <a:spcPct val="100000"/>
                        </a:lnSpc>
                        <a:tabLst>
                          <a:tab pos="0" algn="l"/>
                        </a:tabLst>
                      </a:pPr>
                      <a:r>
                        <a:rPr lang="es-MX" sz="850" b="0" u="none" strike="noStrike">
                          <a:solidFill>
                            <a:srgbClr val="000000"/>
                          </a:solidFill>
                          <a:effectLst/>
                          <a:uFillTx/>
                          <a:latin typeface="Lucida Fax"/>
                          <a:ea typeface="Calibri"/>
                        </a:rPr>
                        <a:t>HORA INICIO:  13:30 HORAS</a:t>
                      </a:r>
                      <a:endParaRPr lang="es-ES" sz="850" b="0" u="none" strike="noStrike">
                        <a:solidFill>
                          <a:srgbClr val="000000"/>
                        </a:solidFill>
                        <a:effectLst/>
                        <a:uFillTx/>
                        <a:latin typeface="Arial"/>
                      </a:endParaRPr>
                    </a:p>
                  </a:txBody>
                  <a:tcPr marL="68400" marR="68400">
                    <a:lnL w="12240">
                      <a:solidFill>
                        <a:srgbClr val="000000"/>
                      </a:solidFill>
                      <a:prstDash val="solid"/>
                    </a:lnL>
                    <a:lnR w="12240">
                      <a:noFill/>
                      <a:prstDash val="solid"/>
                    </a:lnR>
                    <a:lnT w="12240">
                      <a:noFill/>
                      <a:prstDash val="solid"/>
                    </a:lnT>
                    <a:lnB w="12240">
                      <a:noFill/>
                      <a:prstDash val="solid"/>
                    </a:lnB>
                    <a:solidFill>
                      <a:srgbClr val="FFFFFF"/>
                    </a:solidFill>
                  </a:tcPr>
                </a:tc>
                <a:extLst>
                  <a:ext uri="{0D108BD9-81ED-4DB2-BD59-A6C34878D82A}">
                    <a16:rowId xmlns:a16="http://schemas.microsoft.com/office/drawing/2014/main" val="10001"/>
                  </a:ext>
                </a:extLst>
              </a:tr>
              <a:tr h="279000">
                <a:tc>
                  <a:txBody>
                    <a:bodyPr/>
                    <a:lstStyle/>
                    <a:p>
                      <a:pPr algn="just">
                        <a:lnSpc>
                          <a:spcPct val="150000"/>
                        </a:lnSpc>
                      </a:pPr>
                      <a:r>
                        <a:rPr lang="es-MX" sz="850" b="1" u="none" strike="noStrike">
                          <a:solidFill>
                            <a:srgbClr val="000000"/>
                          </a:solidFill>
                          <a:effectLst/>
                          <a:uFillTx/>
                          <a:latin typeface="Lucida Fax"/>
                          <a:ea typeface="Calibri"/>
                        </a:rPr>
                        <a:t>DELITO</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000000"/>
                          </a:solidFill>
                          <a:effectLst/>
                          <a:uFillTx/>
                          <a:latin typeface="Lucida Fax"/>
                        </a:rPr>
                        <a:t>Lesiones Dolosas</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279000">
                <a:tc>
                  <a:txBody>
                    <a:bodyPr/>
                    <a:lstStyle/>
                    <a:p>
                      <a:pPr algn="just">
                        <a:lnSpc>
                          <a:spcPct val="150000"/>
                        </a:lnSpc>
                      </a:pPr>
                      <a:r>
                        <a:rPr lang="es-MX" sz="850" b="1" u="none" strike="noStrike">
                          <a:solidFill>
                            <a:srgbClr val="000000"/>
                          </a:solidFill>
                          <a:effectLst/>
                          <a:uFillTx/>
                          <a:latin typeface="Lucida Fax"/>
                          <a:ea typeface="Calibri"/>
                        </a:rPr>
                        <a:t>IMPUTADO</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000000"/>
                          </a:solidFill>
                          <a:effectLst/>
                          <a:uFillTx/>
                          <a:latin typeface="Lucida Fax"/>
                          <a:ea typeface="Calibri"/>
                        </a:rPr>
                        <a:t>José y Alfredo ambos Gutiérrez Gutiérrez</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3"/>
                  </a:ext>
                </a:extLst>
              </a:tr>
              <a:tr h="279000">
                <a:tc>
                  <a:txBody>
                    <a:bodyPr/>
                    <a:lstStyle/>
                    <a:p>
                      <a:pPr algn="just">
                        <a:lnSpc>
                          <a:spcPct val="150000"/>
                        </a:lnSpc>
                      </a:pPr>
                      <a:r>
                        <a:rPr lang="es-MX" sz="850" b="1" u="none" strike="noStrike">
                          <a:solidFill>
                            <a:srgbClr val="000000"/>
                          </a:solidFill>
                          <a:effectLst/>
                          <a:uFillTx/>
                          <a:latin typeface="Lucida Fax"/>
                          <a:ea typeface="Calibri"/>
                        </a:rPr>
                        <a:t>OFENDIDO</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000000"/>
                          </a:solidFill>
                          <a:effectLst/>
                          <a:uFillTx/>
                          <a:latin typeface="Lucida Fax"/>
                          <a:ea typeface="Calibri"/>
                        </a:rPr>
                        <a:t>Gregori Estefanoni Salazar Hernández y María Isabel Sara Hernández García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658800">
                <a:tc>
                  <a:txBody>
                    <a:bodyPr/>
                    <a:lstStyle/>
                    <a:p>
                      <a:pPr algn="just">
                        <a:lnSpc>
                          <a:spcPct val="150000"/>
                        </a:lnSpc>
                      </a:pPr>
                      <a:r>
                        <a:rPr lang="es-MX" sz="850" b="1" u="none" strike="noStrike">
                          <a:solidFill>
                            <a:srgbClr val="000000"/>
                          </a:solidFill>
                          <a:effectLst/>
                          <a:uFillTx/>
                          <a:latin typeface="Lucida Fax"/>
                          <a:ea typeface="Calibri"/>
                        </a:rPr>
                        <a:t>HECHO</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gn="just">
                        <a:lnSpc>
                          <a:spcPct val="100000"/>
                        </a:lnSpc>
                        <a:tabLst>
                          <a:tab pos="449640" algn="l"/>
                          <a:tab pos="899280" algn="l"/>
                          <a:tab pos="1348920" algn="l"/>
                          <a:tab pos="1798200" algn="l"/>
                          <a:tab pos="2247840" algn="l"/>
                          <a:tab pos="2697480" algn="l"/>
                          <a:tab pos="3147120" algn="l"/>
                          <a:tab pos="3596760" algn="l"/>
                          <a:tab pos="4046400" algn="l"/>
                          <a:tab pos="4495680" algn="l"/>
                          <a:tab pos="4945320" algn="l"/>
                          <a:tab pos="5394960" algn="l"/>
                          <a:tab pos="5622120" algn="l"/>
                        </a:tabLst>
                      </a:pPr>
                      <a:r>
                        <a:rPr lang="es-ES" sz="850" b="0" u="none" strike="noStrike">
                          <a:solidFill>
                            <a:srgbClr val="000000"/>
                          </a:solidFill>
                          <a:effectLst/>
                          <a:uFillTx/>
                          <a:latin typeface="Lucida Fax"/>
                          <a:ea typeface="Arial Unicode MS"/>
                        </a:rPr>
                        <a:t>El día 12 de diciembre del año 2021, siendo aproximadamente las 22:15 horas las hoy victima gregori estefanoni salazar hernández ymaria isabel sara hernández garcía se encontraban a las afueras del edificio identificado con el numero 61 de la calle luis n. morones de la unidad habitacional cuatro caminos en san juan cuautlancingo, puebla, momentos en los cuales fueron agredidos físicamente por los indiciados jose gutierrez gutierrez y alfredo gutierrez gutierrez quienes en compañía de al menos dos sujetos más del sexo masculino quienes hasta el momento se encuentran en calidad de desconocidos, les dieron de puñetazos y patadas a las victimas en su cuero, principalmente en su rostro y cabeza, ocasionandoles lesiones que tardaron en sanar más de quince días y tuvieron como consecuencia que ambas víctimas sufrieron un menoscabo en su salud y especificamente gregori estefanoni salazar hernández padecio lesiones que dejaron cicatriz visible y permanente en su rostro; acciones que tuvieron como consecuencia una transgresión al bien jurídico tutelado por la norma penal correspondiente ala salud e integridad física de las personas</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5"/>
                  </a:ext>
                </a:extLst>
              </a:tr>
              <a:tr h="279000">
                <a:tc>
                  <a:txBody>
                    <a:bodyPr/>
                    <a:lstStyle/>
                    <a:p>
                      <a:pPr algn="just">
                        <a:lnSpc>
                          <a:spcPct val="150000"/>
                        </a:lnSpc>
                      </a:pPr>
                      <a:r>
                        <a:rPr lang="es-MX" sz="850" b="1" u="none" strike="noStrike">
                          <a:solidFill>
                            <a:srgbClr val="000000"/>
                          </a:solidFill>
                          <a:effectLst/>
                          <a:uFillTx/>
                          <a:latin typeface="Lucida Fax"/>
                          <a:ea typeface="Calibri"/>
                        </a:rPr>
                        <a:t>TIPO DE AUDIENCIA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FF0000"/>
                          </a:solidFill>
                          <a:effectLst/>
                          <a:uFillTx/>
                          <a:latin typeface="Lucida Fax"/>
                        </a:rPr>
                        <a:t>Intermedia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279000">
                <a:tc>
                  <a:txBody>
                    <a:bodyPr/>
                    <a:lstStyle/>
                    <a:p>
                      <a:pPr algn="just">
                        <a:lnSpc>
                          <a:spcPct val="150000"/>
                        </a:lnSpc>
                      </a:pPr>
                      <a:r>
                        <a:rPr lang="es-MX" sz="850" b="1" u="none" strike="noStrike">
                          <a:solidFill>
                            <a:srgbClr val="000000"/>
                          </a:solidFill>
                          <a:effectLst/>
                          <a:uFillTx/>
                          <a:latin typeface="Lucida Fax"/>
                          <a:ea typeface="Calibri"/>
                        </a:rPr>
                        <a:t>JUEZ</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000000"/>
                          </a:solidFill>
                          <a:effectLst/>
                          <a:uFillTx/>
                          <a:latin typeface="Lucida Fax"/>
                          <a:ea typeface="DejaVu Sans"/>
                        </a:rPr>
                        <a:t>David Rodríguez González</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7"/>
                  </a:ext>
                </a:extLst>
              </a:tr>
              <a:tr h="268560">
                <a:tc>
                  <a:txBody>
                    <a:bodyPr/>
                    <a:lstStyle/>
                    <a:p>
                      <a:pPr algn="just">
                        <a:lnSpc>
                          <a:spcPct val="150000"/>
                        </a:lnSpc>
                      </a:pPr>
                      <a:r>
                        <a:rPr lang="es-MX" sz="850" b="1" u="none" strike="noStrike">
                          <a:solidFill>
                            <a:srgbClr val="000000"/>
                          </a:solidFill>
                          <a:effectLst/>
                          <a:uFillTx/>
                          <a:latin typeface="Lucida Fax"/>
                          <a:ea typeface="Calibri"/>
                        </a:rPr>
                        <a:t>RESULTADO</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nSpc>
                          <a:spcPct val="100000"/>
                        </a:lnSpc>
                      </a:pPr>
                      <a:r>
                        <a:rPr lang="es-ES" sz="850" b="0" u="none" strike="noStrike">
                          <a:solidFill>
                            <a:srgbClr val="FF0000"/>
                          </a:solidFill>
                          <a:effectLst/>
                          <a:uFillTx/>
                          <a:latin typeface="Lucida Fax"/>
                          <a:ea typeface="DejaVu Sans"/>
                        </a:rPr>
                        <a:t>Se difiere para que las partes lleguen a un acuerdo, se señala las 14:30 horas del día 5 de marzo de 2026 para audiencia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r h="279000">
                <a:tc>
                  <a:txBody>
                    <a:bodyPr/>
                    <a:lstStyle/>
                    <a:p>
                      <a:pPr algn="just">
                        <a:lnSpc>
                          <a:spcPct val="150000"/>
                        </a:lnSpc>
                      </a:pPr>
                      <a:r>
                        <a:rPr lang="es-MX" sz="850" b="1" u="none" strike="noStrike">
                          <a:solidFill>
                            <a:srgbClr val="000000"/>
                          </a:solidFill>
                          <a:effectLst/>
                          <a:uFillTx/>
                          <a:latin typeface="Lucida Fax"/>
                          <a:ea typeface="Calibri"/>
                        </a:rPr>
                        <a:t>MEDIDA CAUTELAR</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gn="just">
                        <a:lnSpc>
                          <a:spcPct val="150000"/>
                        </a:lnSpc>
                      </a:pPr>
                      <a:r>
                        <a:rPr lang="es-MX" sz="850" b="0" u="none" strike="noStrike">
                          <a:solidFill>
                            <a:srgbClr val="000000"/>
                          </a:solidFill>
                          <a:effectLst/>
                          <a:uFillTx/>
                          <a:latin typeface="Lucida Fax"/>
                          <a:ea typeface="DejaVu Sans"/>
                        </a:rPr>
                        <a:t>N/A</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9"/>
                  </a:ext>
                </a:extLst>
              </a:tr>
              <a:tr h="279000">
                <a:tc>
                  <a:txBody>
                    <a:bodyPr/>
                    <a:lstStyle/>
                    <a:p>
                      <a:pPr algn="just">
                        <a:lnSpc>
                          <a:spcPct val="150000"/>
                        </a:lnSpc>
                      </a:pPr>
                      <a:r>
                        <a:rPr lang="es-MX" sz="850" b="1" u="none" strike="noStrike">
                          <a:solidFill>
                            <a:srgbClr val="000000"/>
                          </a:solidFill>
                          <a:effectLst/>
                          <a:uFillTx/>
                          <a:latin typeface="Lucida Fax"/>
                          <a:ea typeface="Calibri"/>
                        </a:rPr>
                        <a:t>OBSERVACIONES</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lstStyle/>
                    <a:p>
                      <a:pPr algn="just">
                        <a:lnSpc>
                          <a:spcPct val="150000"/>
                        </a:lnSpc>
                        <a:tabLst>
                          <a:tab pos="0" algn="l"/>
                        </a:tabLst>
                      </a:pPr>
                      <a:r>
                        <a:rPr lang="es-ES" sz="850" b="0" u="none" strike="noStrike">
                          <a:solidFill>
                            <a:srgbClr val="FF0000"/>
                          </a:solidFill>
                          <a:effectLst/>
                          <a:uFillTx/>
                          <a:latin typeface="Lucida Fax"/>
                          <a:ea typeface="DejaVu Sans"/>
                        </a:rPr>
                        <a:t>Presencial,</a:t>
                      </a:r>
                      <a:endParaRPr lang="es-ES" sz="850" b="0" u="none" strike="noStrike">
                        <a:solidFill>
                          <a:srgbClr val="000000"/>
                        </a:solidFill>
                        <a:effectLst/>
                        <a:uFillTx/>
                        <a:latin typeface="Arial"/>
                      </a:endParaRPr>
                    </a:p>
                  </a:txBody>
                  <a:tcPr marL="66600" marR="666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10"/>
                  </a:ext>
                </a:extLst>
              </a:tr>
            </a:tbl>
          </a:graphicData>
        </a:graphic>
      </p:graphicFrame>
      <p:pic>
        <p:nvPicPr>
          <p:cNvPr id="43" name="Imagen 6" descr="Fiscalia-logo"/>
          <p:cNvPicPr/>
          <p:nvPr/>
        </p:nvPicPr>
        <p:blipFill>
          <a:blip r:embed="rId3"/>
          <a:stretch/>
        </p:blipFill>
        <p:spPr>
          <a:xfrm>
            <a:off x="7186320" y="258480"/>
            <a:ext cx="1595160" cy="459360"/>
          </a:xfrm>
          <a:prstGeom prst="rect">
            <a:avLst/>
          </a:prstGeom>
          <a:noFill/>
          <a:ln w="0">
            <a:noFill/>
          </a:ln>
        </p:spPr>
      </p:pic>
      <p:pic>
        <p:nvPicPr>
          <p:cNvPr id="44" name="Imagen 7"/>
          <p:cNvPicPr/>
          <p:nvPr/>
        </p:nvPicPr>
        <p:blipFill>
          <a:blip r:embed="rId4"/>
          <a:srcRect l="34138" t="9796" r="33398" b="9458"/>
          <a:stretch/>
        </p:blipFill>
        <p:spPr>
          <a:xfrm>
            <a:off x="385200" y="283680"/>
            <a:ext cx="513000" cy="5515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14233</TotalTime>
  <Words>3411</Words>
  <Application>Microsoft Macintosh PowerPoint</Application>
  <PresentationFormat>On-screen Show (4:3)</PresentationFormat>
  <Paragraphs>416</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Lucida Fax</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Felipe Rivera Gonzalez</dc:creator>
  <dc:description/>
  <cp:lastModifiedBy>alejandro</cp:lastModifiedBy>
  <cp:revision>1491</cp:revision>
  <cp:lastPrinted>2026-02-10T01:21:18Z</cp:lastPrinted>
  <dcterms:modified xsi:type="dcterms:W3CDTF">2026-02-13T03:43:07Z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12</vt:i4>
  </property>
  <property fmtid="{D5CDD505-2E9C-101B-9397-08002B2CF9AE}" pid="8" name="PresentationFormat">
    <vt:lpwstr>Presentación en pantalla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